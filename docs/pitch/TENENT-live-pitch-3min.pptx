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4310604ba24ed6" /><Relationship Type="http://schemas.openxmlformats.org/officeDocument/2006/relationships/extended-properties" Target="/docProps/app.xml" Id="R84277cf208594d06" /><Relationship Type="http://schemas.openxmlformats.org/officeDocument/2006/relationships/officeDocument" Target="/ppt/presentation.xml" Id="R88fd836492a24b1d" /></Relationships>
</file>

<file path=ppt/presentation.xml><?xml version="1.0" encoding="utf-8"?>
<p:presentation xmlns:p="http://schemas.openxmlformats.org/presentationml/2006/main">
  <p:sldMasterIdLst>
    <p:sldMasterId xmlns:r="http://schemas.openxmlformats.org/officeDocument/2006/relationships" id="2147483648" r:id="R4705fdce76a44af5"/>
  </p:sldMasterIdLst>
  <p:notesMasterIdLst>
    <p:notesMasterId xmlns:r="http://schemas.openxmlformats.org/officeDocument/2006/relationships" r:id="R8e9d4aed10284727"/>
  </p:notesMasterIdLst>
  <p:sldIdLst>
    <p:sldId xmlns:r="http://schemas.openxmlformats.org/officeDocument/2006/relationships" id="256" r:id="R3ae847ea8a2e45cd"/>
    <p:sldId xmlns:r="http://schemas.openxmlformats.org/officeDocument/2006/relationships" id="257" r:id="R0371af540746468a"/>
    <p:sldId xmlns:r="http://schemas.openxmlformats.org/officeDocument/2006/relationships" id="258" r:id="R92aaf47c712b4395"/>
    <p:sldId xmlns:r="http://schemas.openxmlformats.org/officeDocument/2006/relationships" id="259" r:id="R93d1d4a44bd948d7"/>
    <p:sldId xmlns:r="http://schemas.openxmlformats.org/officeDocument/2006/relationships" id="260" r:id="R3c4a73d993944ea0"/>
    <p:sldId xmlns:r="http://schemas.openxmlformats.org/officeDocument/2006/relationships" id="261" r:id="Raed4427afc854c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cd00c813f84dad" /><Relationship Type="http://schemas.openxmlformats.org/officeDocument/2006/relationships/slideMaster" Target="/ppt/slideMasters/slideMaster1.xml" Id="R4705fdce76a44af5" /><Relationship Type="http://schemas.openxmlformats.org/officeDocument/2006/relationships/notesMaster" Target="/ppt/notesMasters/notesMaster1.xml" Id="R8e9d4aed10284727" /><Relationship Type="http://schemas.openxmlformats.org/officeDocument/2006/relationships/presProps" Target="/ppt/presProps.xml" Id="Rb43a41371ee647ea" /><Relationship Type="http://schemas.openxmlformats.org/officeDocument/2006/relationships/tableStyles" Target="/ppt/tableStyles.xml" Id="Rda08929ccd8c4f5b" /><Relationship Type="http://schemas.openxmlformats.org/officeDocument/2006/relationships/slide" Target="/ppt/slides/slide1.xml" Id="R3ae847ea8a2e45cd" /><Relationship Type="http://schemas.openxmlformats.org/officeDocument/2006/relationships/slide" Target="/ppt/slides/slide2.xml" Id="R0371af540746468a" /><Relationship Type="http://schemas.openxmlformats.org/officeDocument/2006/relationships/slide" Target="/ppt/slides/slide3.xml" Id="R92aaf47c712b4395" /><Relationship Type="http://schemas.openxmlformats.org/officeDocument/2006/relationships/slide" Target="/ppt/slides/slide4.xml" Id="R93d1d4a44bd948d7" /><Relationship Type="http://schemas.openxmlformats.org/officeDocument/2006/relationships/slide" Target="/ppt/slides/slide5.xml" Id="R3c4a73d993944ea0" /><Relationship Type="http://schemas.openxmlformats.org/officeDocument/2006/relationships/slide" Target="/ppt/slides/slide6.xml" Id="Raed4427afc854c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49ec085e3a46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ef838d94604aea" /><Relationship Type="http://schemas.openxmlformats.org/officeDocument/2006/relationships/notesMaster" Target="/ppt/notesMasters/notesMaster1.xml" Id="R6f48d4ead43349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61856848004fdf" /><Relationship Type="http://schemas.openxmlformats.org/officeDocument/2006/relationships/notesMaster" Target="/ppt/notesMasters/notesMaster1.xml" Id="R4cb0216d908743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52e789e3ef45d3" /><Relationship Type="http://schemas.openxmlformats.org/officeDocument/2006/relationships/notesMaster" Target="/ppt/notesMasters/notesMaster1.xml" Id="Rd0cb3e35a18242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8488f521404e91" /><Relationship Type="http://schemas.openxmlformats.org/officeDocument/2006/relationships/notesMaster" Target="/ppt/notesMasters/notesMaster1.xml" Id="R780202a2f77e40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649a732f6b491e" /><Relationship Type="http://schemas.openxmlformats.org/officeDocument/2006/relationships/notesMaster" Target="/ppt/notesMasters/notesMaster1.xml" Id="R38a4624fd4404b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af15552a284487" /><Relationship Type="http://schemas.openxmlformats.org/officeDocument/2006/relationships/notesMaster" Target="/ppt/notesMasters/notesMaster1.xml" Id="R40cbd7f3e17c45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  15 seconds</a:t>
            </a:r>
          </a:p>
          <a:p xmlns:a="http://schemas.openxmlformats.org/drawingml/2006/main">
            <a:r>
              <a:t/>
            </a:r>
          </a:p>
          <a:p xmlns:a="http://schemas.openxmlformats.org/drawingml/2006/main">
            <a:r>
              <a:t>SAY</a:t>
            </a:r>
          </a:p>
          <a:p xmlns:a="http://schemas.openxmlformats.org/drawingml/2006/main">
            <a:r>
              <a:t>City and state rental rules overlap and change on different dates. TENENT helps a property team investigate which rules might govern one building, why, and which missing fact matters next.</a:t>
            </a:r>
          </a:p>
          <a:p xmlns:a="http://schemas.openxmlformats.org/drawingml/2006/main">
            <a:r>
              <a:t/>
            </a:r>
          </a:p>
          <a:p xmlns:a="http://schemas.openxmlformats.org/drawingml/2006/main">
            <a:r>
              <a:t>ACTION</a:t>
            </a:r>
          </a:p>
          <a:p xmlns:a="http://schemas.openxmlformats.org/drawingml/2006/main">
            <a:r>
              <a:t>Open on the cover. Keep the prepared live application in a separate tab.</a:t>
            </a:r>
          </a:p>
          <a:p xmlns:a="http://schemas.openxmlformats.org/drawingml/2006/main">
            <a:r>
              <a:t/>
            </a:r>
          </a:p>
          <a:p xmlns:a="http://schemas.openxmlformats.org/drawingml/2006/main">
            <a:r>
              <a:t>SOURCES</a:t>
            </a:r>
          </a:p>
          <a:p xmlns:a="http://schemas.openxmlformats.org/drawingml/2006/main">
            <a:r>
              <a:t>https://github.com/vzhu08/realpage-eggs/blob/45f8ccf1b555102fb623eeda8bcaffd48d17ffa5/README.md</a:t>
            </a:r>
          </a:p>
          <a:p xmlns:a="http://schemas.openxmlformats.org/drawingml/2006/main">
            <a:r>
              <a:t>https://github.com/vzhu08/realpage-eggs/blob/45f8ccf1b555102fb623eeda8bcaffd48d17ffa5/frontend/src/styles/tokens.css</a:t>
            </a:r>
          </a:p>
          <a:p xmlns:a="http://schemas.openxmlformats.org/drawingml/2006/main">
            <a:r>
              <a:t>https://github.com/vzhu08/realpage-eggs/blob/45f8ccf1b555102fb623eeda8bcaffd48d17ffa5/frontend/public/assets/tenent-architecture.png</a:t>
            </a:r>
          </a:p>
          <a:p xmlns:a="http://schemas.openxmlformats.org/drawingml/2006/main">
            <a:r>
              <a:t>https://github.com/vzhu08/realpage-eggs/blob/45f8ccf1b555102fb623eeda8bcaffd48d17ffa5/frontend/public/assets/brand/tenent-mark-light.svg</a:t>
            </a:r>
          </a:p>
          <a:p xmlns:a="http://schemas.openxmlformats.org/drawingml/2006/main">
            <a:r>
              <a:t/>
            </a:r>
          </a:p>
          <a:p xmlns:a="http://schemas.openxmlformats.org/drawingml/2006/main">
            <a:r>
              <a:t>Original project artwork is conceptual architecture, not a photograph of a benchmark property. No asset asserts a legal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0:15–0:35  |  20 seconds</a:t>
            </a:r>
          </a:p>
          <a:p xmlns:a="http://schemas.openxmlformats.org/drawingml/2006/main">
            <a:r>
              <a:t/>
            </a:r>
          </a:p>
          <a:p xmlns:a="http://schemas.openxmlformats.org/drawingml/2006/main">
            <a:r>
              <a:t>SAY</a:t>
            </a:r>
          </a:p>
          <a:p xmlns:a="http://schemas.openxmlformats.org/drawingml/2006/main">
            <a:r>
              <a:t>Imagine your team researching one building today. A state rule may apply, a city rule may add another condition, and a proposal may not yet be law. TENENT brings the property, date and source together in one research workflow.</a:t>
            </a:r>
          </a:p>
          <a:p xmlns:a="http://schemas.openxmlformats.org/drawingml/2006/main">
            <a:r>
              <a:t/>
            </a:r>
          </a:p>
          <a:p xmlns:a="http://schemas.openxmlformats.org/drawingml/2006/main">
            <a:r>
              <a:t>ACTION</a:t>
            </a:r>
          </a:p>
          <a:p xmlns:a="http://schemas.openxmlformats.org/drawingml/2006/main">
            <a:r>
              <a:t>Point once to the property question. Do not read all four rows.</a:t>
            </a:r>
          </a:p>
          <a:p xmlns:a="http://schemas.openxmlformats.org/drawingml/2006/main">
            <a:r>
              <a:t/>
            </a:r>
          </a:p>
          <a:p xmlns:a="http://schemas.openxmlformats.org/drawingml/2006/main">
            <a:r>
              <a:t>SOURCES</a:t>
            </a:r>
          </a:p>
          <a:p xmlns:a="http://schemas.openxmlformats.org/drawingml/2006/main">
            <a:r>
              <a:t>https://github.com/vzhu08/realpage-eggs/blob/45f8ccf1b555102fb623eeda8bcaffd48d17ffa5/docs/CONTRACTS.md</a:t>
            </a:r>
          </a:p>
          <a:p xmlns:a="http://schemas.openxmlformats.org/drawingml/2006/main">
            <a:r>
              <a:t>https://github.com/vzhu08/realpage-eggs/blob/45f8ccf1b555102fb623eeda8bcaffd48d17ffa5/docs/ASSIST_CONTRACT.md</a:t>
            </a:r>
          </a:p>
          <a:p xmlns:a="http://schemas.openxmlformats.org/drawingml/2006/main">
            <a:r>
              <a:t>https://github.com/vzhu08/realpage-eggs/blob/45f8ccf1b555102fb623eeda8bcaffd48d17ffa5/navigator/engine.py</a:t>
            </a:r>
          </a:p>
          <a:p xmlns:a="http://schemas.openxmlformats.org/drawingml/2006/main">
            <a:r>
              <a:t>https://github.com/vzhu08/realpage-eggs/blob/45f8ccf1b555102fb623eeda8bcaffd48d17ffa5/navigator/evidence.py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0:35–1:00  |  25 seconds</a:t>
            </a:r>
          </a:p>
          <a:p xmlns:a="http://schemas.openxmlformats.org/drawingml/2006/main">
            <a:r>
              <a:t/>
            </a:r>
          </a:p>
          <a:p xmlns:a="http://schemas.openxmlformats.org/drawingml/2006/main">
            <a:r>
              <a:t>SAY</a:t>
            </a:r>
          </a:p>
          <a:p xmlns:a="http://schemas.openxmlformats.org/drawingml/2006/main">
            <a:r>
              <a:t>These two interface examples use fictional demo data. TENENT asks the next useful question and explains which results your answer could change. Answer it, or say “I don’t know.” The evaluator updates the same research result and keeps the remaining unknowns visible, so you can focus on the fact that matters next.</a:t>
            </a:r>
          </a:p>
          <a:p xmlns:a="http://schemas.openxmlformats.org/drawingml/2006/main">
            <a:r>
              <a:t/>
            </a:r>
          </a:p>
          <a:p xmlns:a="http://schemas.openxmlformats.org/drawingml/2006/main">
            <a:r>
              <a:t>ACTION</a:t>
            </a:r>
          </a:p>
          <a:p xmlns:a="http://schemas.openxmlformats.org/drawingml/2006/main">
            <a:r>
              <a:t>Show the question and the consequence line. The displayed two-of-three count belongs only to this fictional example.</a:t>
            </a:r>
          </a:p>
          <a:p xmlns:a="http://schemas.openxmlformats.org/drawingml/2006/main">
            <a:r>
              <a:t/>
            </a:r>
          </a:p>
          <a:p xmlns:a="http://schemas.openxmlformats.org/drawingml/2006/main">
            <a:r>
              <a:t>SOURCES</a:t>
            </a:r>
          </a:p>
          <a:p xmlns:a="http://schemas.openxmlformats.org/drawingml/2006/main">
            <a:r>
              <a:t>https://github.com/vzhu08/realpage-eggs/blob/45f8ccf1b555102fb623eeda8bcaffd48d17ffa5/frontend/docs/demo-backup/README.md</a:t>
            </a:r>
          </a:p>
          <a:p xmlns:a="http://schemas.openxmlformats.org/drawingml/2006/main">
            <a:r>
              <a:t>https://github.com/vzhu08/realpage-eggs/blob/45f8ccf1b555102fb623eeda8bcaffd48d17ffa5/frontend/docs/demo-backup/04-consequential-question.jpg</a:t>
            </a:r>
          </a:p>
          <a:p xmlns:a="http://schemas.openxmlformats.org/drawingml/2006/main">
            <a:r>
              <a:t>https://github.com/vzhu08/realpage-eggs/blob/45f8ccf1b555102fb623eeda8bcaffd48d17ffa5/docs/ASSIST_CONTRACT.md</a:t>
            </a:r>
          </a:p>
          <a:p xmlns:a="http://schemas.openxmlformats.org/drawingml/2006/main">
            <a:r>
              <a:t>https://github.com/vzhu08/realpage-eggs/blob/45f8ccf1b555102fb623eeda8bcaffd48d17ffa5/navigator/question_planner.py</a:t>
            </a:r>
          </a:p>
          <a:p xmlns:a="http://schemas.openxmlformats.org/drawingml/2006/main">
            <a:r>
              <a:t/>
            </a:r>
          </a:p>
          <a:p xmlns:a="http://schemas.openxmlformats.org/drawingml/2006/main">
            <a:r>
              <a:t>Historical UI capture uses DEV-P08, a fictional property on January 15, 2027. The screenshot crop enlarges the question; this slide retains an explicit fictional-data disclosure.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1:00–1:20  |  20 seconds</a:t>
            </a:r>
          </a:p>
          <a:p xmlns:a="http://schemas.openxmlformats.org/drawingml/2006/main">
            <a:r>
              <a:t/>
            </a:r>
          </a:p>
          <a:p xmlns:a="http://schemas.openxmlformats.org/drawingml/2006/main">
            <a:r>
              <a:t>SAY</a:t>
            </a:r>
          </a:p>
          <a:p xmlns:a="http://schemas.openxmlformats.org/drawingml/2006/main">
            <a:r>
              <a:t>Then open the evidence behind a result. TENENT keeps the original quote, its exact location and the review checks together. A researcher can inspect the interpretation and follow up on an open issue without losing the source that started the investigation.</a:t>
            </a:r>
          </a:p>
          <a:p xmlns:a="http://schemas.openxmlformats.org/drawingml/2006/main">
            <a:r>
              <a:t/>
            </a:r>
          </a:p>
          <a:p xmlns:a="http://schemas.openxmlformats.org/drawingml/2006/main">
            <a:r>
              <a:t>ACTION</a:t>
            </a:r>
          </a:p>
          <a:p xmlns:a="http://schemas.openxmlformats.org/drawingml/2006/main">
            <a:r>
              <a:t>Point to the source quote, then to the location below it. Do not present the fictional deposit cap as actual law.</a:t>
            </a:r>
          </a:p>
          <a:p xmlns:a="http://schemas.openxmlformats.org/drawingml/2006/main">
            <a:r>
              <a:t/>
            </a:r>
          </a:p>
          <a:p xmlns:a="http://schemas.openxmlformats.org/drawingml/2006/main">
            <a:r>
              <a:t>SOURCES</a:t>
            </a:r>
          </a:p>
          <a:p xmlns:a="http://schemas.openxmlformats.org/drawingml/2006/main">
            <a:r>
              <a:t>https://github.com/vzhu08/realpage-eggs/blob/45f8ccf1b555102fb623eeda8bcaffd48d17ffa5/frontend/docs/TENENT_PREVIEW.txt</a:t>
            </a:r>
          </a:p>
          <a:p xmlns:a="http://schemas.openxmlformats.org/drawingml/2006/main">
            <a:r>
              <a:t>https://github.com/vzhu08/realpage-eggs/blob/45f8ccf1b555102fb623eeda8bcaffd48d17ffa5/frontend/docs/tenent-preview/desktop-evidence.png</a:t>
            </a:r>
          </a:p>
          <a:p xmlns:a="http://schemas.openxmlformats.org/drawingml/2006/main">
            <a:r>
              <a:t>https://github.com/vzhu08/realpage-eggs/blob/45f8ccf1b555102fb623eeda8bcaffd48d17ffa5/navigator/evidence.py</a:t>
            </a:r>
          </a:p>
          <a:p xmlns:a="http://schemas.openxmlformats.org/drawingml/2006/main">
            <a:r>
              <a:t>https://github.com/vzhu08/realpage-eggs/blob/45f8ccf1b555102fb623eeda8bcaffd48d17ffa5/frontend/src/features/evidence/SourceTab.tsx</a:t>
            </a:r>
          </a:p>
          <a:p xmlns:a="http://schemas.openxmlformats.org/drawingml/2006/main">
            <a:r>
              <a:t/>
            </a:r>
          </a:p>
          <a:p xmlns:a="http://schemas.openxmlformats.org/drawingml/2006/main">
            <a:r>
              <a:t>Matching source words does not establish a correct legal interpretation. Source identity, quote matching and semantic review remain separate checks. The screenshot is fictional and historical, not a statement of actual law.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1:20–1:40  |  20 seconds</a:t>
            </a:r>
          </a:p>
          <a:p xmlns:a="http://schemas.openxmlformats.org/drawingml/2006/main">
            <a:r>
              <a:t/>
            </a:r>
          </a:p>
          <a:p xmlns:a="http://schemas.openxmlformats.org/drawingml/2006/main">
            <a:r>
              <a:t>SAY</a:t>
            </a:r>
          </a:p>
          <a:p xmlns:a="http://schemas.openxmlformats.org/drawingml/2006/main">
            <a:r>
              <a:t>TENENT also compares dates and supports a clearly labeled “if enacted” scenario. A proposal stays pending in the actual record. For portfolio questions, the system separates definite impacts from uncertain ones, so an incomplete result does not disappear into a confident total.</a:t>
            </a:r>
          </a:p>
          <a:p xmlns:a="http://schemas.openxmlformats.org/drawingml/2006/main">
            <a:r>
              <a:t/>
            </a:r>
          </a:p>
          <a:p xmlns:a="http://schemas.openxmlformats.org/drawingml/2006/main">
            <a:r>
              <a:t>ACTION</a:t>
            </a:r>
          </a:p>
          <a:p xmlns:a="http://schemas.openxmlformats.org/drawingml/2006/main">
            <a:r>
              <a:t>Describe this feature without running a cold portfolio comparison during the three-minute pitch. Use only a previously rehearsed comparison if time permits.</a:t>
            </a:r>
          </a:p>
          <a:p xmlns:a="http://schemas.openxmlformats.org/drawingml/2006/main">
            <a:r>
              <a:t/>
            </a:r>
          </a:p>
          <a:p xmlns:a="http://schemas.openxmlformats.org/drawingml/2006/main">
            <a:r>
              <a:t>SOURCES</a:t>
            </a:r>
          </a:p>
          <a:p xmlns:a="http://schemas.openxmlformats.org/drawingml/2006/main">
            <a:r>
              <a:t>https://github.com/vzhu08/realpage-eggs/blob/45f8ccf1b555102fb623eeda8bcaffd48d17ffa5/navigator/changes.py</a:t>
            </a:r>
          </a:p>
          <a:p xmlns:a="http://schemas.openxmlformats.org/drawingml/2006/main">
            <a:r>
              <a:t>https://github.com/vzhu08/realpage-eggs/blob/45f8ccf1b555102fb623eeda8bcaffd48d17ffa5/navigator/engine.py</a:t>
            </a:r>
          </a:p>
          <a:p xmlns:a="http://schemas.openxmlformats.org/drawingml/2006/main">
            <a:r>
              <a:t>https://github.com/vzhu08/realpage-eggs/blob/45f8ccf1b555102fb623eeda8bcaffd48d17ffa5/docs/CONTRACTS.md</a:t>
            </a:r>
          </a:p>
          <a:p xmlns:a="http://schemas.openxmlformats.org/drawingml/2006/main">
            <a:r>
              <a:t>https://github.com/vzhu08/realpage-eggs/blob/45f8ccf1b555102fb623eeda8bcaffd48d17ffa5/frontend/docs/DEMO_SCRIPT.md</a:t>
            </a:r>
          </a:p>
          <a:p xmlns:a="http://schemas.openxmlformats.org/drawingml/2006/main">
            <a:r>
              <a:t/>
            </a:r>
          </a:p>
          <a:p xmlns:a="http://schemas.openxmlformats.org/drawingml/2006/main">
            <a:r>
              <a:t>No slide claims that a proposal will be enacted, that all five competition cases pass, or that all affected-address sets have been established. The current full data-readiness gate remains partial.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1:40–3:00  |  10-second handoff, 60-second demo, 10-second close</a:t>
            </a:r>
          </a:p>
          <a:p xmlns:a="http://schemas.openxmlformats.org/drawingml/2006/main">
            <a:r>
              <a:t/>
            </a:r>
          </a:p>
          <a:p xmlns:a="http://schemas.openxmlformats.org/drawingml/2006/main">
            <a:r>
              <a:t>SAY</a:t>
            </a:r>
          </a:p>
          <a:p xmlns:a="http://schemas.openxmlformats.org/drawingml/2006/main">
            <a:r>
              <a:t>Now I’ll show one property, the next useful question and the evidence behind a result.</a:t>
            </a:r>
          </a:p>
          <a:p xmlns:a="http://schemas.openxmlformats.org/drawingml/2006/main">
            <a:r>
              <a:t/>
            </a:r>
          </a:p>
          <a:p xmlns:a="http://schemas.openxmlformats.org/drawingml/2006/main">
            <a:r>
              <a:t>[During demo] This starts with a property and an explicit date. The result keeps unknowns visible. I’ll use a hypothetical answer to show how it changes the analysis, without claiming that answer is verified. And here is the exact source quote behind this result.</a:t>
            </a:r>
          </a:p>
          <a:p xmlns:a="http://schemas.openxmlformats.org/drawingml/2006/main">
            <a:r>
              <a:t/>
            </a:r>
          </a:p>
          <a:p xmlns:a="http://schemas.openxmlformats.org/drawingml/2006/main">
            <a:r>
              <a:t>[Close] TENENT helps a researcher see what applies, what might change and what still needs evidence. This remains a research prototype with partial coverage, not legal advice.</a:t>
            </a:r>
          </a:p>
          <a:p xmlns:a="http://schemas.openxmlformats.org/drawingml/2006/main">
            <a:r>
              <a:t/>
            </a:r>
          </a:p>
          <a:p xmlns:a="http://schemas.openxmlformats.org/drawingml/2006/main">
            <a:r>
              <a:t>ACTION</a:t>
            </a:r>
          </a:p>
          <a:p xmlns:a="http://schemas.openxmlformats.org/drawingml/2006/main">
            <a:r>
              <a:t>Before presenting, rehearse the exact running snapshot and confirm its question. Preferred prepared starting point from ASSIST_DEMO.md: A0001 on October 1, 2026. During the 60 seconds: 0–12 open prepared result; 12–30 answer the current useful question using a clearly labeled hypothetical; 30–45 point out what changed and what remains open; 45–60 open Evidence and show the source quote. Return to this slide for the close. Do not force the historical owner-occupancy script if the repaired snapshot asks a different question. If live data is unavailable, explicitly announce a fictional walkthrough and use the already labeled screenshots rather than claiming a live result.</a:t>
            </a:r>
          </a:p>
          <a:p xmlns:a="http://schemas.openxmlformats.org/drawingml/2006/main">
            <a:r>
              <a:t/>
            </a:r>
          </a:p>
          <a:p xmlns:a="http://schemas.openxmlformats.org/drawingml/2006/main">
            <a:r>
              <a:t>SOURCES</a:t>
            </a:r>
          </a:p>
          <a:p xmlns:a="http://schemas.openxmlformats.org/drawingml/2006/main">
            <a:r>
              <a:t>https://github.com/vzhu08/realpage-eggs/blob/45f8ccf1b555102fb623eeda8bcaffd48d17ffa5/docs/ASSIST_DEMO.md</a:t>
            </a:r>
          </a:p>
          <a:p xmlns:a="http://schemas.openxmlformats.org/drawingml/2006/main">
            <a:r>
              <a:t>https://github.com/vzhu08/realpage-eggs/blob/45f8ccf1b555102fb623eeda8bcaffd48d17ffa5/config/demo_requests.json</a:t>
            </a:r>
          </a:p>
          <a:p xmlns:a="http://schemas.openxmlformats.org/drawingml/2006/main">
            <a:r>
              <a:t>https://github.com/vzhu08/realpage-eggs/blob/45f8ccf1b555102fb623eeda8bcaffd48d17ffa5/frontend/docs/DEMO_SCRIPT.md</a:t>
            </a:r>
          </a:p>
          <a:p xmlns:a="http://schemas.openxmlformats.org/drawingml/2006/main">
            <a:r>
              <a:t>https://github.com/vzhu08/realpage-eggs/blob/45f8ccf1b555102fb623eeda8bcaffd48d17ffa5/docs/CHANGE_CASE_READINESS.md</a:t>
            </a:r>
          </a:p>
          <a:p xmlns:a="http://schemas.openxmlformats.org/drawingml/2006/main">
            <a:r>
              <a:t/>
            </a:r>
          </a:p>
          <a:p xmlns:a="http://schemas.openxmlformats.org/drawingml/2006/main">
            <a:r>
              <a:t>The real-data rehearsal in ASSIST_DEMO.md documents partial research results. Its cached timing measurements are not a general performance claim, and this pitch makes no speed or accuracy benchmark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2cf009ef0f4e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27aaa3f69c4356" /><Relationship Type="http://schemas.openxmlformats.org/officeDocument/2006/relationships/slideLayout" Target="/ppt/slideLayouts/slideLayout1.xml" Id="R2b1d4579dac94b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1d4579dac94b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5ec865193444be" /><Relationship Type="http://schemas.openxmlformats.org/officeDocument/2006/relationships/image" Target="/ppt/media/image.png" Id="Rac61aec2da204169" /><Relationship Type="http://schemas.openxmlformats.org/officeDocument/2006/relationships/image" Target="/ppt/media/image2.png" Id="Ree14f8faa29a4eef" /><Relationship Type="http://schemas.openxmlformats.org/officeDocument/2006/relationships/image" Target="/ppt/media/image.svg" Id="R79839bc89f32466b" /><Relationship Type="http://schemas.openxmlformats.org/officeDocument/2006/relationships/notesSlide" Target="/ppt/notesSlides/notesSlide1.xml" Id="Rc169444fcb504c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edcd22197b4031" /><Relationship Type="http://schemas.openxmlformats.org/officeDocument/2006/relationships/notesSlide" Target="/ppt/notesSlides/notesSlide2.xml" Id="R5be7e2d6805f48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c0a0f79e1c4fdf" /><Relationship Type="http://schemas.openxmlformats.org/officeDocument/2006/relationships/image" Target="/ppt/media/image.jpeg" Id="R4b0e4163aa1f48f8" /><Relationship Type="http://schemas.openxmlformats.org/officeDocument/2006/relationships/notesSlide" Target="/ppt/notesSlides/notesSlide3.xml" Id="R46f850cbc59545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c0b074b1d143b7" /><Relationship Type="http://schemas.openxmlformats.org/officeDocument/2006/relationships/image" Target="/ppt/media/image2.jpeg" Id="Rbd13eeb03f2b4c00" /><Relationship Type="http://schemas.openxmlformats.org/officeDocument/2006/relationships/notesSlide" Target="/ppt/notesSlides/notesSlide4.xml" Id="R13bbbd36a91e46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df0855d57f4265" /><Relationship Type="http://schemas.openxmlformats.org/officeDocument/2006/relationships/notesSlide" Target="/ppt/notesSlides/notesSlide5.xml" Id="Rd8cd427ab93448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b28339366d414c" /><Relationship Type="http://schemas.openxmlformats.org/officeDocument/2006/relationships/notesSlide" Target="/ppt/notesSlides/notesSlide6.xml" Id="R474d3b569e7d4b58" /></Relationships>
</file>

<file path=ppt/slides/slide1.xml><?xml version="1.0" encoding="utf-8"?>
<p:sld xmlns:p="http://schemas.openxmlformats.org/presentationml/2006/main">
  <p:cSld>
    <p:bg>
      <p:bgPr>
        <a:solidFill xmlns:a="http://schemas.openxmlformats.org/drawingml/2006/main">
          <a:srgbClr val="F6F0D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c61aec2da20416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e14f8faa29a4eef">
            <a:extLst>
              <a:ext uri="{96DAC541-7B7A-43D3-8B79-37D633B846F1}">
                <asvg:svgBlip xmlns:asvg="http://schemas.microsoft.com/office/drawing/2016/SVG/main" r:embed="R79839bc89f32466b"/>
              </a:ext>
            </a:extLst>
          </a:blip>
          <a:stretch xmlns:a="http://schemas.openxmlformats.org/drawingml/2006/main"/>
        </p:blipFill>
        <p:spPr>
          <a:xfrm xmlns:a="http://schemas.openxmlformats.org/drawingml/2006/main">
            <a:off x="609600" y="523875"/>
            <a:ext cx="533400" cy="590550"/>
          </a:xfrm>
          <a:prstGeom xmlns:a="http://schemas.openxmlformats.org/drawingml/2006/main" prst="rect">
            <a:avLst/>
          </a:prstGeom>
        </p:spPr>
      </p:pic>
      <p:sp>
        <p:nvSpPr>
          <p:cNvPr id="3" name="TENENT">
            <a:extLst xmlns:a="http://schemas.openxmlformats.org/drawingml/2006/main">
              <a:ext uri="{FF2B5EF4-FFF2-40B4-BE49-F238E27FC236}">
                <a16:creationId xmlns:a16="http://schemas.microsoft.com/office/drawing/2014/main" id="{66703F28-33D5-466F-BA4E-1AAF96008808}"/>
              </a:ext>
            </a:extLst>
          </p:cNvPr>
          <p:cNvSpPr>
            <a:spLocks xmlns:a="http://schemas.openxmlformats.org/drawingml/2006/main" noGrp="1"/>
          </p:cNvSpPr>
          <p:nvPr/>
        </p:nvSpPr>
        <p:spPr>
          <a:xfrm xmlns:a="http://schemas.openxmlformats.org/drawingml/2006/main">
            <a:off x="1343025" y="542925"/>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0">
                <a:solidFill>
                  <a:srgbClr val="143343"/>
                </a:solidFill>
                <a:latin typeface="Helvetica Neue"/>
                <a:ea typeface="Helvetica Neue"/>
                <a:cs typeface="Helvetica Neue"/>
              </a:defRPr>
            </a:pPr>
            <a:r>
              <a:rPr sz="4800" b="0">
                <a:solidFill>
                  <a:srgbClr val="143343"/>
                </a:solidFill>
                <a:latin typeface="Helvetica Neue"/>
                <a:ea typeface="Helvetica Neue"/>
                <a:cs typeface="Helvetica Neue"/>
              </a:rPr>
              <a:t>TENENT</a:t>
            </a:r>
          </a:p>
        </p:txBody>
      </p:sp>
      <p:sp>
        <p:nvSpPr>
          <p:cNvPr id="4" name="Cover subject">
            <a:extLst xmlns:a="http://schemas.openxmlformats.org/drawingml/2006/main">
              <a:ext uri="{FF2B5EF4-FFF2-40B4-BE49-F238E27FC236}">
                <a16:creationId xmlns:a16="http://schemas.microsoft.com/office/drawing/2014/main" id="{DD036AAF-83F8-48F2-ADB5-CD6F36E275E4}"/>
              </a:ext>
            </a:extLst>
          </p:cNvPr>
          <p:cNvSpPr>
            <a:spLocks xmlns:a="http://schemas.openxmlformats.org/drawingml/2006/main" noGrp="1"/>
          </p:cNvSpPr>
          <p:nvPr/>
        </p:nvSpPr>
        <p:spPr>
          <a:xfrm xmlns:a="http://schemas.openxmlformats.org/drawingml/2006/main">
            <a:off x="685800" y="1952625"/>
            <a:ext cx="50958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425" b="0">
                <a:solidFill>
                  <a:srgbClr val="143343"/>
                </a:solidFill>
                <a:latin typeface="Helvetica Neue"/>
                <a:ea typeface="Helvetica Neue"/>
                <a:cs typeface="Helvetica Neue"/>
              </a:defRPr>
            </a:pPr>
            <a:r>
              <a:rPr sz="4425" b="0">
                <a:solidFill>
                  <a:srgbClr val="143343"/>
                </a:solidFill>
                <a:latin typeface="Helvetica Neue"/>
                <a:ea typeface="Helvetica Neue"/>
                <a:cs typeface="Helvetica Neue"/>
              </a:rPr>
              <a:t>Rental rules for</a:t>
            </a:r>
          </a:p>
          <a:p xmlns:a="http://schemas.openxmlformats.org/drawingml/2006/main">
            <a:pPr>
              <a:defRPr sz="4425" b="0">
                <a:solidFill>
                  <a:srgbClr val="143343"/>
                </a:solidFill>
                <a:latin typeface="Helvetica Neue"/>
                <a:ea typeface="Helvetica Neue"/>
                <a:cs typeface="Helvetica Neue"/>
              </a:defRPr>
            </a:pPr>
            <a:r>
              <a:rPr sz="4425" b="0">
                <a:solidFill>
                  <a:srgbClr val="143343"/>
                </a:solidFill>
                <a:latin typeface="Helvetica Neue"/>
                <a:ea typeface="Helvetica Neue"/>
                <a:cs typeface="Helvetica Neue"/>
              </a:rPr>
              <a:t>one property,</a:t>
            </a:r>
          </a:p>
          <a:p xmlns:a="http://schemas.openxmlformats.org/drawingml/2006/main">
            <a:pPr>
              <a:defRPr sz="4425" b="0">
                <a:solidFill>
                  <a:srgbClr val="143343"/>
                </a:solidFill>
                <a:latin typeface="Helvetica Neue"/>
                <a:ea typeface="Helvetica Neue"/>
                <a:cs typeface="Helvetica Neue"/>
              </a:defRPr>
            </a:pPr>
            <a:r>
              <a:rPr sz="4425" b="0">
                <a:solidFill>
                  <a:srgbClr val="143343"/>
                </a:solidFill>
                <a:latin typeface="Helvetica Neue"/>
                <a:ea typeface="Helvetica Neue"/>
                <a:cs typeface="Helvetica Neue"/>
              </a:rPr>
              <a:t>on one date</a:t>
            </a:r>
          </a:p>
        </p:txBody>
      </p:sp>
      <p:sp>
        <p:nvSpPr>
          <p:cNvPr id="5" name="Cover benefit">
            <a:extLst xmlns:a="http://schemas.openxmlformats.org/drawingml/2006/main">
              <a:ext uri="{FF2B5EF4-FFF2-40B4-BE49-F238E27FC236}">
                <a16:creationId xmlns:a16="http://schemas.microsoft.com/office/drawing/2014/main" id="{BFB57A21-601D-45BA-AD7E-C847CDB9612E}"/>
              </a:ext>
            </a:extLst>
          </p:cNvPr>
          <p:cNvSpPr>
            <a:spLocks xmlns:a="http://schemas.openxmlformats.org/drawingml/2006/main" noGrp="1"/>
          </p:cNvSpPr>
          <p:nvPr/>
        </p:nvSpPr>
        <p:spPr>
          <a:xfrm xmlns:a="http://schemas.openxmlformats.org/drawingml/2006/main">
            <a:off x="723900" y="4667250"/>
            <a:ext cx="4619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53636A"/>
                </a:solidFill>
                <a:latin typeface="Helvetica Neue"/>
                <a:ea typeface="Helvetica Neue"/>
                <a:cs typeface="Helvetica Neue"/>
              </a:defRPr>
            </a:pPr>
            <a:r>
              <a:rPr sz="2250" b="0">
                <a:solidFill>
                  <a:srgbClr val="53636A"/>
                </a:solidFill>
                <a:latin typeface="Helvetica Neue"/>
                <a:ea typeface="Helvetica Neue"/>
                <a:cs typeface="Helvetica Neue"/>
              </a:rPr>
              <a:t>Investigate what applies.</a:t>
            </a:r>
          </a:p>
          <a:p xmlns:a="http://schemas.openxmlformats.org/drawingml/2006/main">
            <a:pPr>
              <a:defRPr sz="2250" b="0">
                <a:solidFill>
                  <a:srgbClr val="53636A"/>
                </a:solidFill>
                <a:latin typeface="Helvetica Neue"/>
                <a:ea typeface="Helvetica Neue"/>
                <a:cs typeface="Helvetica Neue"/>
              </a:defRPr>
            </a:pPr>
            <a:r>
              <a:rPr sz="2250" b="0">
                <a:solidFill>
                  <a:srgbClr val="53636A"/>
                </a:solidFill>
                <a:latin typeface="Helvetica Neue"/>
                <a:ea typeface="Helvetica Neue"/>
                <a:cs typeface="Helvetica Neue"/>
              </a:rPr>
              <a:t>Keep the evidence in view.</a:t>
            </a:r>
          </a:p>
        </p:txBody>
      </p:sp>
    </p:spTree>
    <p:extLst>
      <p:ext uri="{BB962C8B-B14F-4D97-AF65-F5344CB8AC3E}">
        <p14:creationId xmlns:p14="http://schemas.microsoft.com/office/powerpoint/2010/main" val="1408469599"/>
      </p:ext>
    </p:extLst>
  </p:cSld>
</p:sld>
</file>

<file path=ppt/slides/slide2.xml><?xml version="1.0" encoding="utf-8"?>
<p:sld xmlns:p="http://schemas.openxmlformats.org/presentationml/2006/main">
  <p:cSld>
    <p:bg>
      <p:bgPr>
        <a:solidFill xmlns:a="http://schemas.openxmlformats.org/drawingml/2006/main">
          <a:srgbClr val="143343"/>
        </a:solidFill>
      </p:bgPr>
    </p:bg>
    <p:spTree>
      <p:nvGrpSpPr>
        <p:cNvPr id="1" name=""/>
        <p:cNvGrpSpPr/>
        <p:nvPr/>
      </p:nvGrpSpPr>
      <p:grpSpPr>
        <a:xfrm xmlns:a="http://schemas.openxmlformats.org/drawingml/2006/main"/>
      </p:grpSpPr>
      <p:sp>
        <p:nvSpPr>
          <p:cNvPr id="11" name="Problem title">
            <a:extLst xmlns:a="http://schemas.openxmlformats.org/drawingml/2006/main">
              <a:ext uri="{FF2B5EF4-FFF2-40B4-BE49-F238E27FC236}">
                <a16:creationId xmlns:a16="http://schemas.microsoft.com/office/drawing/2014/main" id="{0AC25D99-1586-4965-8825-D24306CD7CA6}"/>
              </a:ext>
            </a:extLst>
          </p:cNvPr>
          <p:cNvSpPr>
            <a:spLocks xmlns:a="http://schemas.openxmlformats.org/drawingml/2006/main" noGrp="1"/>
          </p:cNvSpPr>
          <p:nvPr/>
        </p:nvSpPr>
        <p:spPr>
          <a:xfrm xmlns:a="http://schemas.openxmlformats.org/drawingml/2006/main">
            <a:off x="685800" y="5810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F6F0DF"/>
                </a:solidFill>
                <a:latin typeface="Helvetica Neue"/>
                <a:ea typeface="Helvetica Neue"/>
                <a:cs typeface="Helvetica Neue"/>
              </a:defRPr>
            </a:pPr>
            <a:r>
              <a:rPr sz="3600" b="0">
                <a:solidFill>
                  <a:srgbClr val="F6F0DF"/>
                </a:solidFill>
                <a:latin typeface="Helvetica Neue"/>
                <a:ea typeface="Helvetica Neue"/>
                <a:cs typeface="Helvetica Neue"/>
              </a:rPr>
              <a:t>Rental rules depend on context</a:t>
            </a:r>
          </a:p>
        </p:txBody>
      </p:sp>
      <p:sp>
        <p:nvSpPr>
          <p:cNvPr id="2" name="Property question">
            <a:extLst xmlns:a="http://schemas.openxmlformats.org/drawingml/2006/main">
              <a:ext uri="{FF2B5EF4-FFF2-40B4-BE49-F238E27FC236}">
                <a16:creationId xmlns:a16="http://schemas.microsoft.com/office/drawing/2014/main" id="{CB76B2B0-2830-4056-BE98-49A4B45EFEF6}"/>
              </a:ext>
            </a:extLst>
          </p:cNvPr>
          <p:cNvSpPr>
            <a:spLocks xmlns:a="http://schemas.openxmlformats.org/drawingml/2006/main" noGrp="1"/>
          </p:cNvSpPr>
          <p:nvPr/>
        </p:nvSpPr>
        <p:spPr>
          <a:xfrm xmlns:a="http://schemas.openxmlformats.org/drawingml/2006/main">
            <a:off x="685800" y="1743075"/>
            <a:ext cx="10191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F6F0DF"/>
                </a:solidFill>
                <a:latin typeface="Helvetica Neue"/>
                <a:ea typeface="Helvetica Neue"/>
                <a:cs typeface="Helvetica Neue"/>
              </a:defRPr>
            </a:pPr>
            <a:r>
              <a:rPr sz="3900" b="0">
                <a:solidFill>
                  <a:srgbClr val="F6F0DF"/>
                </a:solidFill>
                <a:latin typeface="Helvetica Neue"/>
                <a:ea typeface="Helvetica Neue"/>
                <a:cs typeface="Helvetica Neue"/>
              </a:rPr>
              <a:t>Which rules apply to this property</a:t>
            </a:r>
          </a:p>
          <a:p xmlns:a="http://schemas.openxmlformats.org/drawingml/2006/main">
            <a:pPr>
              <a:defRPr sz="3900" b="0">
                <a:solidFill>
                  <a:srgbClr val="F6F0DF"/>
                </a:solidFill>
                <a:latin typeface="Helvetica Neue"/>
                <a:ea typeface="Helvetica Neue"/>
                <a:cs typeface="Helvetica Neue"/>
              </a:defRPr>
            </a:pPr>
            <a:r>
              <a:rPr sz="3900" b="0">
                <a:solidFill>
                  <a:srgbClr val="F6F0DF"/>
                </a:solidFill>
                <a:latin typeface="Helvetica Neue"/>
                <a:ea typeface="Helvetica Neue"/>
                <a:cs typeface="Helvetica Neue"/>
              </a:rPr>
              <a:t>on the date I choose?</a:t>
            </a:r>
          </a:p>
        </p:txBody>
      </p:sp>
      <p:sp>
        <p:nvSpPr>
          <p:cNvPr id="3" name="Context label 1">
            <a:extLst xmlns:a="http://schemas.openxmlformats.org/drawingml/2006/main">
              <a:ext uri="{FF2B5EF4-FFF2-40B4-BE49-F238E27FC236}">
                <a16:creationId xmlns:a16="http://schemas.microsoft.com/office/drawing/2014/main" id="{4CB0074F-C415-4767-9F96-06CADABC07DA}"/>
              </a:ext>
            </a:extLst>
          </p:cNvPr>
          <p:cNvSpPr>
            <a:spLocks xmlns:a="http://schemas.openxmlformats.org/drawingml/2006/main" noGrp="1"/>
          </p:cNvSpPr>
          <p:nvPr/>
        </p:nvSpPr>
        <p:spPr>
          <a:xfrm xmlns:a="http://schemas.openxmlformats.org/drawingml/2006/main">
            <a:off x="723900" y="360997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BC70"/>
                </a:solidFill>
                <a:latin typeface="Helvetica Neue"/>
                <a:ea typeface="Helvetica Neue"/>
                <a:cs typeface="Helvetica Neue"/>
              </a:defRPr>
            </a:pPr>
            <a:r>
              <a:rPr sz="2025" b="0">
                <a:solidFill>
                  <a:srgbClr val="E2BC70"/>
                </a:solidFill>
                <a:latin typeface="Helvetica Neue"/>
                <a:ea typeface="Helvetica Neue"/>
                <a:cs typeface="Helvetica Neue"/>
              </a:rPr>
              <a:t>Legal location</a:t>
            </a:r>
          </a:p>
        </p:txBody>
      </p:sp>
      <p:sp>
        <p:nvSpPr>
          <p:cNvPr id="4" name="Context detail 1">
            <a:extLst xmlns:a="http://schemas.openxmlformats.org/drawingml/2006/main">
              <a:ext uri="{FF2B5EF4-FFF2-40B4-BE49-F238E27FC236}">
                <a16:creationId xmlns:a16="http://schemas.microsoft.com/office/drawing/2014/main" id="{41FAB0BA-33F8-4CA0-B874-35B5507C52FA}"/>
              </a:ext>
            </a:extLst>
          </p:cNvPr>
          <p:cNvSpPr>
            <a:spLocks xmlns:a="http://schemas.openxmlformats.org/drawingml/2006/main" noGrp="1"/>
          </p:cNvSpPr>
          <p:nvPr/>
        </p:nvSpPr>
        <p:spPr>
          <a:xfrm xmlns:a="http://schemas.openxmlformats.org/drawingml/2006/main">
            <a:off x="4191000" y="3609975"/>
            <a:ext cx="710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BDCBCB"/>
                </a:solidFill>
                <a:latin typeface="Helvetica Neue"/>
                <a:ea typeface="Helvetica Neue"/>
                <a:cs typeface="Helvetica Neue"/>
              </a:defRPr>
            </a:pPr>
            <a:r>
              <a:rPr sz="2025" b="0">
                <a:solidFill>
                  <a:srgbClr val="BDCBCB"/>
                </a:solidFill>
                <a:latin typeface="Helvetica Neue"/>
                <a:ea typeface="Helvetica Neue"/>
                <a:cs typeface="Helvetica Neue"/>
              </a:rPr>
              <a:t>State and municipal boundaries</a:t>
            </a:r>
          </a:p>
        </p:txBody>
      </p:sp>
      <p:sp>
        <p:nvSpPr>
          <p:cNvPr id="5" name="Context label 2">
            <a:extLst xmlns:a="http://schemas.openxmlformats.org/drawingml/2006/main">
              <a:ext uri="{FF2B5EF4-FFF2-40B4-BE49-F238E27FC236}">
                <a16:creationId xmlns:a16="http://schemas.microsoft.com/office/drawing/2014/main" id="{DFF97781-34B9-4E55-8820-282E6909C219}"/>
              </a:ext>
            </a:extLst>
          </p:cNvPr>
          <p:cNvSpPr>
            <a:spLocks xmlns:a="http://schemas.openxmlformats.org/drawingml/2006/main" noGrp="1"/>
          </p:cNvSpPr>
          <p:nvPr/>
        </p:nvSpPr>
        <p:spPr>
          <a:xfrm xmlns:a="http://schemas.openxmlformats.org/drawingml/2006/main">
            <a:off x="723900" y="4248150"/>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BC70"/>
                </a:solidFill>
                <a:latin typeface="Helvetica Neue"/>
                <a:ea typeface="Helvetica Neue"/>
                <a:cs typeface="Helvetica Neue"/>
              </a:defRPr>
            </a:pPr>
            <a:r>
              <a:rPr sz="2025" b="0">
                <a:solidFill>
                  <a:srgbClr val="E2BC70"/>
                </a:solidFill>
                <a:latin typeface="Helvetica Neue"/>
                <a:ea typeface="Helvetica Neue"/>
                <a:cs typeface="Helvetica Neue"/>
              </a:rPr>
              <a:t>The date</a:t>
            </a:r>
          </a:p>
        </p:txBody>
      </p:sp>
      <p:sp>
        <p:nvSpPr>
          <p:cNvPr id="6" name="Context detail 2">
            <a:extLst xmlns:a="http://schemas.openxmlformats.org/drawingml/2006/main">
              <a:ext uri="{FF2B5EF4-FFF2-40B4-BE49-F238E27FC236}">
                <a16:creationId xmlns:a16="http://schemas.microsoft.com/office/drawing/2014/main" id="{6C718413-CDB5-4306-9915-7F8F93669CC7}"/>
              </a:ext>
            </a:extLst>
          </p:cNvPr>
          <p:cNvSpPr>
            <a:spLocks xmlns:a="http://schemas.openxmlformats.org/drawingml/2006/main" noGrp="1"/>
          </p:cNvSpPr>
          <p:nvPr/>
        </p:nvSpPr>
        <p:spPr>
          <a:xfrm xmlns:a="http://schemas.openxmlformats.org/drawingml/2006/main">
            <a:off x="4191000" y="4248150"/>
            <a:ext cx="710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BDCBCB"/>
                </a:solidFill>
                <a:latin typeface="Helvetica Neue"/>
                <a:ea typeface="Helvetica Neue"/>
                <a:cs typeface="Helvetica Neue"/>
              </a:defRPr>
            </a:pPr>
            <a:r>
              <a:rPr sz="2025" b="0">
                <a:solidFill>
                  <a:srgbClr val="BDCBCB"/>
                </a:solidFill>
                <a:latin typeface="Helvetica Neue"/>
                <a:ea typeface="Helvetica Neue"/>
                <a:cs typeface="Helvetica Neue"/>
              </a:rPr>
              <a:t>Effective dates and proposal status</a:t>
            </a:r>
          </a:p>
        </p:txBody>
      </p:sp>
      <p:sp>
        <p:nvSpPr>
          <p:cNvPr id="7" name="Context label 3">
            <a:extLst xmlns:a="http://schemas.openxmlformats.org/drawingml/2006/main">
              <a:ext uri="{FF2B5EF4-FFF2-40B4-BE49-F238E27FC236}">
                <a16:creationId xmlns:a16="http://schemas.microsoft.com/office/drawing/2014/main" id="{49A8D168-E15A-4778-90BE-B92439CC4A52}"/>
              </a:ext>
            </a:extLst>
          </p:cNvPr>
          <p:cNvSpPr>
            <a:spLocks xmlns:a="http://schemas.openxmlformats.org/drawingml/2006/main" noGrp="1"/>
          </p:cNvSpPr>
          <p:nvPr/>
        </p:nvSpPr>
        <p:spPr>
          <a:xfrm xmlns:a="http://schemas.openxmlformats.org/drawingml/2006/main">
            <a:off x="723900" y="48863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BC70"/>
                </a:solidFill>
                <a:latin typeface="Helvetica Neue"/>
                <a:ea typeface="Helvetica Neue"/>
                <a:cs typeface="Helvetica Neue"/>
              </a:defRPr>
            </a:pPr>
            <a:r>
              <a:rPr sz="2025" b="0">
                <a:solidFill>
                  <a:srgbClr val="E2BC70"/>
                </a:solidFill>
                <a:latin typeface="Helvetica Neue"/>
                <a:ea typeface="Helvetica Neue"/>
                <a:cs typeface="Helvetica Neue"/>
              </a:rPr>
              <a:t>The facts</a:t>
            </a:r>
          </a:p>
        </p:txBody>
      </p:sp>
      <p:sp>
        <p:nvSpPr>
          <p:cNvPr id="8" name="Context detail 3">
            <a:extLst xmlns:a="http://schemas.openxmlformats.org/drawingml/2006/main">
              <a:ext uri="{FF2B5EF4-FFF2-40B4-BE49-F238E27FC236}">
                <a16:creationId xmlns:a16="http://schemas.microsoft.com/office/drawing/2014/main" id="{A495AA4E-B81B-4A7E-9E4F-FCFC72437328}"/>
              </a:ext>
            </a:extLst>
          </p:cNvPr>
          <p:cNvSpPr>
            <a:spLocks xmlns:a="http://schemas.openxmlformats.org/drawingml/2006/main" noGrp="1"/>
          </p:cNvSpPr>
          <p:nvPr/>
        </p:nvSpPr>
        <p:spPr>
          <a:xfrm xmlns:a="http://schemas.openxmlformats.org/drawingml/2006/main">
            <a:off x="4191000" y="4886325"/>
            <a:ext cx="710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BDCBCB"/>
                </a:solidFill>
                <a:latin typeface="Helvetica Neue"/>
                <a:ea typeface="Helvetica Neue"/>
                <a:cs typeface="Helvetica Neue"/>
              </a:defRPr>
            </a:pPr>
            <a:r>
              <a:rPr sz="2025" b="0">
                <a:solidFill>
                  <a:srgbClr val="BDCBCB"/>
                </a:solidFill>
                <a:latin typeface="Helvetica Neue"/>
                <a:ea typeface="Helvetica Neue"/>
                <a:cs typeface="Helvetica Neue"/>
              </a:rPr>
              <a:t>The details the record does not settle</a:t>
            </a:r>
          </a:p>
        </p:txBody>
      </p:sp>
      <p:sp>
        <p:nvSpPr>
          <p:cNvPr id="9" name="Context label 4">
            <a:extLst xmlns:a="http://schemas.openxmlformats.org/drawingml/2006/main">
              <a:ext uri="{FF2B5EF4-FFF2-40B4-BE49-F238E27FC236}">
                <a16:creationId xmlns:a16="http://schemas.microsoft.com/office/drawing/2014/main" id="{01A1BA99-A3B1-45CE-9656-568B19C85ED6}"/>
              </a:ext>
            </a:extLst>
          </p:cNvPr>
          <p:cNvSpPr>
            <a:spLocks xmlns:a="http://schemas.openxmlformats.org/drawingml/2006/main" noGrp="1"/>
          </p:cNvSpPr>
          <p:nvPr/>
        </p:nvSpPr>
        <p:spPr>
          <a:xfrm xmlns:a="http://schemas.openxmlformats.org/drawingml/2006/main">
            <a:off x="723900" y="5524500"/>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BC70"/>
                </a:solidFill>
                <a:latin typeface="Helvetica Neue"/>
                <a:ea typeface="Helvetica Neue"/>
                <a:cs typeface="Helvetica Neue"/>
              </a:defRPr>
            </a:pPr>
            <a:r>
              <a:rPr sz="2025" b="0">
                <a:solidFill>
                  <a:srgbClr val="E2BC70"/>
                </a:solidFill>
                <a:latin typeface="Helvetica Neue"/>
                <a:ea typeface="Helvetica Neue"/>
                <a:cs typeface="Helvetica Neue"/>
              </a:rPr>
              <a:t>The source</a:t>
            </a:r>
          </a:p>
        </p:txBody>
      </p:sp>
      <p:sp>
        <p:nvSpPr>
          <p:cNvPr id="10" name="Context detail 4">
            <a:extLst xmlns:a="http://schemas.openxmlformats.org/drawingml/2006/main">
              <a:ext uri="{FF2B5EF4-FFF2-40B4-BE49-F238E27FC236}">
                <a16:creationId xmlns:a16="http://schemas.microsoft.com/office/drawing/2014/main" id="{3BDD5181-15F6-4967-A091-5DACC50D93EB}"/>
              </a:ext>
            </a:extLst>
          </p:cNvPr>
          <p:cNvSpPr>
            <a:spLocks xmlns:a="http://schemas.openxmlformats.org/drawingml/2006/main" noGrp="1"/>
          </p:cNvSpPr>
          <p:nvPr/>
        </p:nvSpPr>
        <p:spPr>
          <a:xfrm xmlns:a="http://schemas.openxmlformats.org/drawingml/2006/main">
            <a:off x="4191000" y="5524500"/>
            <a:ext cx="710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BDCBCB"/>
                </a:solidFill>
                <a:latin typeface="Helvetica Neue"/>
                <a:ea typeface="Helvetica Neue"/>
                <a:cs typeface="Helvetica Neue"/>
              </a:defRPr>
            </a:pPr>
            <a:r>
              <a:rPr sz="2025" b="0">
                <a:solidFill>
                  <a:srgbClr val="BDCBCB"/>
                </a:solidFill>
                <a:latin typeface="Helvetica Neue"/>
                <a:ea typeface="Helvetica Neue"/>
                <a:cs typeface="Helvetica Neue"/>
              </a:rPr>
              <a:t>The text behind the interpretation</a:t>
            </a:r>
          </a:p>
        </p:txBody>
      </p:sp>
    </p:spTree>
    <p:extLst>
      <p:ext uri="{BB962C8B-B14F-4D97-AF65-F5344CB8AC3E}">
        <p14:creationId xmlns:p14="http://schemas.microsoft.com/office/powerpoint/2010/main" val="148058354"/>
      </p:ext>
    </p:extLst>
  </p:cSld>
</p:sld>
</file>

<file path=ppt/slides/slide3.xml><?xml version="1.0" encoding="utf-8"?>
<p:sld xmlns:p="http://schemas.openxmlformats.org/presentationml/2006/main">
  <p:cSld>
    <p:bg>
      <p:bgPr>
        <a:solidFill xmlns:a="http://schemas.openxmlformats.org/drawingml/2006/main">
          <a:srgbClr val="F6F0DF"/>
        </a:solidFill>
      </p:bgPr>
    </p:bg>
    <p:spTree>
      <p:nvGrpSpPr>
        <p:cNvPr id="1" name=""/>
        <p:cNvGrpSpPr/>
        <p:nvPr/>
      </p:nvGrpSpPr>
      <p:grpSpPr>
        <a:xfrm xmlns:a="http://schemas.openxmlformats.org/drawingml/2006/main"/>
      </p:grpSpPr>
      <p:sp>
        <p:nvSpPr>
          <p:cNvPr id="4" name="Question title">
            <a:extLst xmlns:a="http://schemas.openxmlformats.org/drawingml/2006/main">
              <a:ext uri="{FF2B5EF4-FFF2-40B4-BE49-F238E27FC236}">
                <a16:creationId xmlns:a16="http://schemas.microsoft.com/office/drawing/2014/main" id="{5016B4CA-EC3B-4220-99A2-4D33431B8540}"/>
              </a:ext>
            </a:extLst>
          </p:cNvPr>
          <p:cNvSpPr>
            <a:spLocks xmlns:a="http://schemas.openxmlformats.org/drawingml/2006/main" noGrp="1"/>
          </p:cNvSpPr>
          <p:nvPr/>
        </p:nvSpPr>
        <p:spPr>
          <a:xfrm xmlns:a="http://schemas.openxmlformats.org/drawingml/2006/main">
            <a:off x="685800" y="4381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143343"/>
                </a:solidFill>
                <a:latin typeface="Helvetica Neue"/>
                <a:ea typeface="Helvetica Neue"/>
                <a:cs typeface="Helvetica Neue"/>
              </a:defRPr>
            </a:pPr>
            <a:r>
              <a:rPr sz="3600" b="0">
                <a:solidFill>
                  <a:srgbClr val="143343"/>
                </a:solidFill>
                <a:latin typeface="Helvetica Neue"/>
                <a:ea typeface="Helvetica Neue"/>
                <a:cs typeface="Helvetica Neue"/>
              </a:rPr>
              <a:t>A useful follow-up question</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b0e4163aa1f48f8"/>
          <ns0:srcRect xmlns:ns0="http://schemas.openxmlformats.org/drawingml/2006/main" l="3750" t="20000" r="3125" b="8889"/>
          <a:stretch xmlns:a="http://schemas.openxmlformats.org/drawingml/2006/main"/>
        </p:blipFill>
        <p:spPr>
          <a:xfrm xmlns:a="http://schemas.openxmlformats.org/drawingml/2006/main">
            <a:off x="685800" y="1381125"/>
            <a:ext cx="10820400" cy="4648200"/>
          </a:xfrm>
          <a:prstGeom xmlns:a="http://schemas.openxmlformats.org/drawingml/2006/main" prst="rect">
            <a:avLst/>
          </a:prstGeom>
        </p:spPr>
      </p:pic>
      <p:sp>
        <p:nvSpPr>
          <p:cNvPr id="3" name="Question screenshot disclosure">
            <a:extLst xmlns:a="http://schemas.openxmlformats.org/drawingml/2006/main">
              <a:ext uri="{FF2B5EF4-FFF2-40B4-BE49-F238E27FC236}">
                <a16:creationId xmlns:a16="http://schemas.microsoft.com/office/drawing/2014/main" id="{8C01A314-8609-47CC-97AB-14D07E3A15C6}"/>
              </a:ext>
            </a:extLst>
          </p:cNvPr>
          <p:cNvSpPr>
            <a:spLocks xmlns:a="http://schemas.openxmlformats.org/drawingml/2006/main" noGrp="1"/>
          </p:cNvSpPr>
          <p:nvPr/>
        </p:nvSpPr>
        <p:spPr>
          <a:xfrm xmlns:a="http://schemas.openxmlformats.org/drawingml/2006/main">
            <a:off x="685800" y="625792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36A"/>
                </a:solidFill>
                <a:latin typeface="Helvetica Neue"/>
                <a:ea typeface="Helvetica Neue"/>
                <a:cs typeface="Helvetica Neue"/>
              </a:defRPr>
            </a:pPr>
            <a:r>
              <a:rPr sz="1800" b="0">
                <a:solidFill>
                  <a:srgbClr val="53636A"/>
                </a:solidFill>
                <a:latin typeface="Helvetica Neue"/>
                <a:ea typeface="Helvetica Neue"/>
                <a:cs typeface="Helvetica Neue"/>
              </a:rPr>
              <a:t>Fictional demo screen. An answer can change a result while other gaps remain.</a:t>
            </a:r>
          </a:p>
        </p:txBody>
      </p:sp>
    </p:spTree>
    <p:extLst>
      <p:ext uri="{BB962C8B-B14F-4D97-AF65-F5344CB8AC3E}">
        <p14:creationId xmlns:p14="http://schemas.microsoft.com/office/powerpoint/2010/main" val="1766749540"/>
      </p:ext>
    </p:extLst>
  </p:cSld>
</p:sld>
</file>

<file path=ppt/slides/slide4.xml><?xml version="1.0" encoding="utf-8"?>
<p:sld xmlns:p="http://schemas.openxmlformats.org/presentationml/2006/main">
  <p:cSld>
    <p:bg>
      <p:bgPr>
        <a:solidFill xmlns:a="http://schemas.openxmlformats.org/drawingml/2006/main">
          <a:srgbClr val="F6F0DF"/>
        </a:solidFill>
      </p:bgPr>
    </p:bg>
    <p:spTree>
      <p:nvGrpSpPr>
        <p:cNvPr id="1" name=""/>
        <p:cNvGrpSpPr/>
        <p:nvPr/>
      </p:nvGrpSpPr>
      <p:grpSpPr>
        <a:xfrm xmlns:a="http://schemas.openxmlformats.org/drawingml/2006/main"/>
      </p:grpSpPr>
      <p:sp>
        <p:nvSpPr>
          <p:cNvPr id="6" name="Evidence title">
            <a:extLst xmlns:a="http://schemas.openxmlformats.org/drawingml/2006/main">
              <a:ext uri="{FF2B5EF4-FFF2-40B4-BE49-F238E27FC236}">
                <a16:creationId xmlns:a16="http://schemas.microsoft.com/office/drawing/2014/main" id="{B50957BB-1D10-4B67-95D6-3F98DDE8846A}"/>
              </a:ext>
            </a:extLst>
          </p:cNvPr>
          <p:cNvSpPr>
            <a:spLocks xmlns:a="http://schemas.openxmlformats.org/drawingml/2006/main" noGrp="1"/>
          </p:cNvSpPr>
          <p:nvPr/>
        </p:nvSpPr>
        <p:spPr>
          <a:xfrm xmlns:a="http://schemas.openxmlformats.org/drawingml/2006/main">
            <a:off x="685800" y="4857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143343"/>
                </a:solidFill>
                <a:latin typeface="Helvetica Neue"/>
                <a:ea typeface="Helvetica Neue"/>
                <a:cs typeface="Helvetica Neue"/>
              </a:defRPr>
            </a:pPr>
            <a:r>
              <a:rPr sz="3600" b="0">
                <a:solidFill>
                  <a:srgbClr val="143343"/>
                </a:solidFill>
                <a:latin typeface="Helvetica Neue"/>
                <a:ea typeface="Helvetica Neue"/>
                <a:cs typeface="Helvetica Neue"/>
              </a:rPr>
              <a:t>Evidence stays with the result</a:t>
            </a:r>
          </a:p>
        </p:txBody>
      </p:sp>
      <p:sp>
        <p:nvSpPr>
          <p:cNvPr id="2" name="Evidence body">
            <a:extLst xmlns:a="http://schemas.openxmlformats.org/drawingml/2006/main">
              <a:ext uri="{FF2B5EF4-FFF2-40B4-BE49-F238E27FC236}">
                <a16:creationId xmlns:a16="http://schemas.microsoft.com/office/drawing/2014/main" id="{0F17421C-7AFD-42B0-B9C1-30C68E028725}"/>
              </a:ext>
            </a:extLst>
          </p:cNvPr>
          <p:cNvSpPr>
            <a:spLocks xmlns:a="http://schemas.openxmlformats.org/drawingml/2006/main" noGrp="1"/>
          </p:cNvSpPr>
          <p:nvPr/>
        </p:nvSpPr>
        <p:spPr>
          <a:xfrm xmlns:a="http://schemas.openxmlformats.org/drawingml/2006/main">
            <a:off x="685800" y="1952625"/>
            <a:ext cx="40481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43343"/>
                </a:solidFill>
                <a:latin typeface="Helvetica Neue"/>
                <a:ea typeface="Helvetica Neue"/>
                <a:cs typeface="Helvetica Neue"/>
              </a:defRPr>
            </a:pPr>
            <a:r>
              <a:rPr sz="2325" b="0">
                <a:solidFill>
                  <a:srgbClr val="143343"/>
                </a:solidFill>
                <a:latin typeface="Helvetica Neue"/>
                <a:ea typeface="Helvetica Neue"/>
                <a:cs typeface="Helvetica Neue"/>
              </a:rPr>
              <a:t>Original source text</a:t>
            </a:r>
          </a:p>
          <a:p xmlns:a="http://schemas.openxmlformats.org/drawingml/2006/main">
            <a:r>
              <a:t/>
            </a:r>
          </a:p>
          <a:p xmlns:a="http://schemas.openxmlformats.org/drawingml/2006/main">
            <a:pPr>
              <a:defRPr sz="2325" b="0">
                <a:solidFill>
                  <a:srgbClr val="143343"/>
                </a:solidFill>
                <a:latin typeface="Helvetica Neue"/>
                <a:ea typeface="Helvetica Neue"/>
                <a:cs typeface="Helvetica Neue"/>
              </a:defRPr>
            </a:pPr>
            <a:r>
              <a:rPr sz="2325" b="0">
                <a:solidFill>
                  <a:srgbClr val="143343"/>
                </a:solidFill>
                <a:latin typeface="Helvetica Neue"/>
                <a:ea typeface="Helvetica Neue"/>
                <a:cs typeface="Helvetica Neue"/>
              </a:rPr>
              <a:t>Exact quote location</a:t>
            </a:r>
          </a:p>
          <a:p xmlns:a="http://schemas.openxmlformats.org/drawingml/2006/main">
            <a:r>
              <a:t/>
            </a:r>
          </a:p>
          <a:p xmlns:a="http://schemas.openxmlformats.org/drawingml/2006/main">
            <a:pPr>
              <a:defRPr sz="2325" b="0">
                <a:solidFill>
                  <a:srgbClr val="143343"/>
                </a:solidFill>
                <a:latin typeface="Helvetica Neue"/>
                <a:ea typeface="Helvetica Neue"/>
                <a:cs typeface="Helvetica Neue"/>
              </a:defRPr>
            </a:pPr>
            <a:r>
              <a:rPr sz="2325" b="0">
                <a:solidFill>
                  <a:srgbClr val="143343"/>
                </a:solidFill>
                <a:latin typeface="Helvetica Neue"/>
                <a:ea typeface="Helvetica Neue"/>
                <a:cs typeface="Helvetica Neue"/>
              </a:rPr>
              <a:t>Separate review checks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d13eeb03f2b4c00"/>
          <ns0:srcRect xmlns:ns0="http://schemas.openxmlformats.org/drawingml/2006/main" l="39800" t="4100" r="9100" b="52000"/>
          <a:stretch xmlns:a="http://schemas.openxmlformats.org/drawingml/2006/main"/>
        </p:blipFill>
        <p:spPr>
          <a:xfrm xmlns:a="http://schemas.openxmlformats.org/drawingml/2006/main">
            <a:off x="5267325" y="1600200"/>
            <a:ext cx="6238875" cy="3876675"/>
          </a:xfrm>
          <a:prstGeom xmlns:a="http://schemas.openxmlformats.org/drawingml/2006/main" prst="rect">
            <a:avLst/>
          </a:prstGeom>
        </p:spPr>
      </p:pic>
      <p:sp>
        <p:nvSpPr>
          <p:cNvPr id="4" name="Evidence meaning">
            <a:extLst xmlns:a="http://schemas.openxmlformats.org/drawingml/2006/main">
              <a:ext uri="{FF2B5EF4-FFF2-40B4-BE49-F238E27FC236}">
                <a16:creationId xmlns:a16="http://schemas.microsoft.com/office/drawing/2014/main" id="{A186DBC7-8EEC-4C20-9BD1-D150B03DFFA2}"/>
              </a:ext>
            </a:extLst>
          </p:cNvPr>
          <p:cNvSpPr>
            <a:spLocks xmlns:a="http://schemas.openxmlformats.org/drawingml/2006/main" noGrp="1"/>
          </p:cNvSpPr>
          <p:nvPr/>
        </p:nvSpPr>
        <p:spPr>
          <a:xfrm xmlns:a="http://schemas.openxmlformats.org/drawingml/2006/main">
            <a:off x="685800" y="56007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3343"/>
                </a:solidFill>
                <a:latin typeface="Helvetica Neue"/>
                <a:ea typeface="Helvetica Neue"/>
                <a:cs typeface="Helvetica Neue"/>
              </a:defRPr>
            </a:pPr>
            <a:r>
              <a:rPr sz="2175" b="0">
                <a:solidFill>
                  <a:srgbClr val="143343"/>
                </a:solidFill>
                <a:latin typeface="Helvetica Neue"/>
                <a:ea typeface="Helvetica Neue"/>
                <a:cs typeface="Helvetica Neue"/>
              </a:rPr>
              <a:t>Trace the result back to its captured source.</a:t>
            </a:r>
          </a:p>
        </p:txBody>
      </p:sp>
      <p:sp>
        <p:nvSpPr>
          <p:cNvPr id="5" name="Evidence screenshot disclosure">
            <a:extLst xmlns:a="http://schemas.openxmlformats.org/drawingml/2006/main">
              <a:ext uri="{FF2B5EF4-FFF2-40B4-BE49-F238E27FC236}">
                <a16:creationId xmlns:a16="http://schemas.microsoft.com/office/drawing/2014/main" id="{4CE54867-D7BA-44CD-8238-43B2CA43BE3E}"/>
              </a:ext>
            </a:extLst>
          </p:cNvPr>
          <p:cNvSpPr>
            <a:spLocks xmlns:a="http://schemas.openxmlformats.org/drawingml/2006/main" noGrp="1"/>
          </p:cNvSpPr>
          <p:nvPr/>
        </p:nvSpPr>
        <p:spPr>
          <a:xfrm xmlns:a="http://schemas.openxmlformats.org/drawingml/2006/main">
            <a:off x="685800" y="63150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36A"/>
                </a:solidFill>
                <a:latin typeface="Helvetica Neue"/>
                <a:ea typeface="Helvetica Neue"/>
                <a:cs typeface="Helvetica Neue"/>
              </a:defRPr>
            </a:pPr>
            <a:r>
              <a:rPr sz="1725" b="0">
                <a:solidFill>
                  <a:srgbClr val="53636A"/>
                </a:solidFill>
                <a:latin typeface="Helvetica Neue"/>
                <a:ea typeface="Helvetica Neue"/>
                <a:cs typeface="Helvetica Neue"/>
              </a:rPr>
              <a:t>Fictional demo screen. Current source and interpretation gaps remain visible.</a:t>
            </a:r>
          </a:p>
        </p:txBody>
      </p:sp>
    </p:spTree>
    <p:extLst>
      <p:ext uri="{BB962C8B-B14F-4D97-AF65-F5344CB8AC3E}">
        <p14:creationId xmlns:p14="http://schemas.microsoft.com/office/powerpoint/2010/main" val="483939834"/>
      </p:ext>
    </p:extLst>
  </p:cSld>
</p:sld>
</file>

<file path=ppt/slides/slide5.xml><?xml version="1.0" encoding="utf-8"?>
<p:sld xmlns:p="http://schemas.openxmlformats.org/presentationml/2006/main">
  <p:cSld>
    <p:bg>
      <p:bgPr>
        <a:solidFill xmlns:a="http://schemas.openxmlformats.org/drawingml/2006/main">
          <a:srgbClr val="143343"/>
        </a:solidFill>
      </p:bgPr>
    </p:bg>
    <p:spTree>
      <p:nvGrpSpPr>
        <p:cNvPr id="1" name=""/>
        <p:cNvGrpSpPr/>
        <p:nvPr/>
      </p:nvGrpSpPr>
      <p:grpSpPr>
        <a:xfrm xmlns:a="http://schemas.openxmlformats.org/drawingml/2006/main"/>
      </p:grpSpPr>
      <p:sp>
        <p:nvSpPr>
          <p:cNvPr id="9" name="Scenarios title">
            <a:extLst xmlns:a="http://schemas.openxmlformats.org/drawingml/2006/main">
              <a:ext uri="{FF2B5EF4-FFF2-40B4-BE49-F238E27FC236}">
                <a16:creationId xmlns:a16="http://schemas.microsoft.com/office/drawing/2014/main" id="{52AEDCC6-B69B-432E-AB6F-6386967162A0}"/>
              </a:ext>
            </a:extLst>
          </p:cNvPr>
          <p:cNvSpPr>
            <a:spLocks xmlns:a="http://schemas.openxmlformats.org/drawingml/2006/main" noGrp="1"/>
          </p:cNvSpPr>
          <p:nvPr/>
        </p:nvSpPr>
        <p:spPr>
          <a:xfrm xmlns:a="http://schemas.openxmlformats.org/drawingml/2006/main">
            <a:off x="685800" y="5715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F6F0DF"/>
                </a:solidFill>
                <a:latin typeface="Helvetica Neue"/>
                <a:ea typeface="Helvetica Neue"/>
                <a:cs typeface="Helvetica Neue"/>
              </a:defRPr>
            </a:pPr>
            <a:r>
              <a:rPr sz="3600" b="0">
                <a:solidFill>
                  <a:srgbClr val="F6F0DF"/>
                </a:solidFill>
                <a:latin typeface="Helvetica Neue"/>
                <a:ea typeface="Helvetica Neue"/>
                <a:cs typeface="Helvetica Neue"/>
              </a:rPr>
              <a:t>Current law and possible changes</a:t>
            </a:r>
          </a:p>
        </p:txBody>
      </p:sp>
      <p:sp>
        <p:nvSpPr>
          <p:cNvPr id="2" name="Actual label">
            <a:extLst xmlns:a="http://schemas.openxmlformats.org/drawingml/2006/main">
              <a:ext uri="{FF2B5EF4-FFF2-40B4-BE49-F238E27FC236}">
                <a16:creationId xmlns:a16="http://schemas.microsoft.com/office/drawing/2014/main" id="{3EF4EDC5-55A5-4DC4-A657-CDF32FF056F4}"/>
              </a:ext>
            </a:extLst>
          </p:cNvPr>
          <p:cNvSpPr>
            <a:spLocks xmlns:a="http://schemas.openxmlformats.org/drawingml/2006/main" noGrp="1"/>
          </p:cNvSpPr>
          <p:nvPr/>
        </p:nvSpPr>
        <p:spPr>
          <a:xfrm xmlns:a="http://schemas.openxmlformats.org/drawingml/2006/main">
            <a:off x="714375" y="21050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2BC70"/>
                </a:solidFill>
                <a:latin typeface="Helvetica Neue"/>
                <a:ea typeface="Helvetica Neue"/>
                <a:cs typeface="Helvetica Neue"/>
              </a:defRPr>
            </a:pPr>
            <a:r>
              <a:rPr sz="2175" b="0">
                <a:solidFill>
                  <a:srgbClr val="E2BC70"/>
                </a:solidFill>
                <a:latin typeface="Helvetica Neue"/>
                <a:ea typeface="Helvetica Neue"/>
                <a:cs typeface="Helvetica Neue"/>
              </a:rPr>
              <a:t>Actual on the selected date</a:t>
            </a:r>
          </a:p>
        </p:txBody>
      </p:sp>
      <p:sp>
        <p:nvSpPr>
          <p:cNvPr id="3" name="Actual meaning">
            <a:extLst xmlns:a="http://schemas.openxmlformats.org/drawingml/2006/main">
              <a:ext uri="{FF2B5EF4-FFF2-40B4-BE49-F238E27FC236}">
                <a16:creationId xmlns:a16="http://schemas.microsoft.com/office/drawing/2014/main" id="{B7A8042E-75F6-41A2-9D5C-4B659915BE0D}"/>
              </a:ext>
            </a:extLst>
          </p:cNvPr>
          <p:cNvSpPr>
            <a:spLocks xmlns:a="http://schemas.openxmlformats.org/drawingml/2006/main" noGrp="1"/>
          </p:cNvSpPr>
          <p:nvPr/>
        </p:nvSpPr>
        <p:spPr>
          <a:xfrm xmlns:a="http://schemas.openxmlformats.org/drawingml/2006/main">
            <a:off x="714375" y="2943225"/>
            <a:ext cx="50006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F6F0DF"/>
                </a:solidFill>
                <a:latin typeface="Helvetica Neue"/>
                <a:ea typeface="Helvetica Neue"/>
                <a:cs typeface="Helvetica Neue"/>
              </a:defRPr>
            </a:pPr>
            <a:r>
              <a:rPr sz="3225" b="0">
                <a:solidFill>
                  <a:srgbClr val="F6F0DF"/>
                </a:solidFill>
                <a:latin typeface="Helvetica Neue"/>
                <a:ea typeface="Helvetica Neue"/>
                <a:cs typeface="Helvetica Neue"/>
              </a:rPr>
              <a:t>Use the recorded</a:t>
            </a:r>
          </a:p>
          <a:p xmlns:a="http://schemas.openxmlformats.org/drawingml/2006/main">
            <a:pPr>
              <a:defRPr sz="3225" b="0">
                <a:solidFill>
                  <a:srgbClr val="F6F0DF"/>
                </a:solidFill>
                <a:latin typeface="Helvetica Neue"/>
                <a:ea typeface="Helvetica Neue"/>
                <a:cs typeface="Helvetica Neue"/>
              </a:defRPr>
            </a:pPr>
            <a:r>
              <a:rPr sz="3225" b="0">
                <a:solidFill>
                  <a:srgbClr val="F6F0DF"/>
                </a:solidFill>
                <a:latin typeface="Helvetica Neue"/>
                <a:ea typeface="Helvetica Neue"/>
                <a:cs typeface="Helvetica Neue"/>
              </a:rPr>
              <a:t>legal lifecycle</a:t>
            </a:r>
          </a:p>
        </p:txBody>
      </p:sp>
      <p:sp>
        <p:nvSpPr>
          <p:cNvPr id="4" name="Actual detail">
            <a:extLst xmlns:a="http://schemas.openxmlformats.org/drawingml/2006/main">
              <a:ext uri="{FF2B5EF4-FFF2-40B4-BE49-F238E27FC236}">
                <a16:creationId xmlns:a16="http://schemas.microsoft.com/office/drawing/2014/main" id="{C39678DD-695F-4EEA-906B-773F67683721}"/>
              </a:ext>
            </a:extLst>
          </p:cNvPr>
          <p:cNvSpPr>
            <a:spLocks xmlns:a="http://schemas.openxmlformats.org/drawingml/2006/main" noGrp="1"/>
          </p:cNvSpPr>
          <p:nvPr/>
        </p:nvSpPr>
        <p:spPr>
          <a:xfrm xmlns:a="http://schemas.openxmlformats.org/drawingml/2006/main">
            <a:off x="714375" y="44196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DCBCB"/>
                </a:solidFill>
                <a:latin typeface="Helvetica Neue"/>
                <a:ea typeface="Helvetica Neue"/>
                <a:cs typeface="Helvetica Neue"/>
              </a:defRPr>
            </a:pPr>
            <a:r>
              <a:rPr sz="2100" b="0">
                <a:solidFill>
                  <a:srgbClr val="BDCBCB"/>
                </a:solidFill>
                <a:latin typeface="Helvetica Neue"/>
                <a:ea typeface="Helvetica Neue"/>
                <a:cs typeface="Helvetica Neue"/>
              </a:rPr>
              <a:t>Pending proposals stay pending.</a:t>
            </a:r>
          </a:p>
        </p:txBody>
      </p:sp>
      <p:sp>
        <p:nvSpPr>
          <p:cNvPr id="5" name="Hypothetical label">
            <a:extLst xmlns:a="http://schemas.openxmlformats.org/drawingml/2006/main">
              <a:ext uri="{FF2B5EF4-FFF2-40B4-BE49-F238E27FC236}">
                <a16:creationId xmlns:a16="http://schemas.microsoft.com/office/drawing/2014/main" id="{B6405B71-8AE2-4168-9BBE-F7CD9696D291}"/>
              </a:ext>
            </a:extLst>
          </p:cNvPr>
          <p:cNvSpPr>
            <a:spLocks xmlns:a="http://schemas.openxmlformats.org/drawingml/2006/main" noGrp="1"/>
          </p:cNvSpPr>
          <p:nvPr/>
        </p:nvSpPr>
        <p:spPr>
          <a:xfrm xmlns:a="http://schemas.openxmlformats.org/drawingml/2006/main">
            <a:off x="6810375" y="2105025"/>
            <a:ext cx="4619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2BC70"/>
                </a:solidFill>
                <a:latin typeface="Helvetica Neue"/>
                <a:ea typeface="Helvetica Neue"/>
                <a:cs typeface="Helvetica Neue"/>
              </a:defRPr>
            </a:pPr>
            <a:r>
              <a:rPr sz="2175" b="0">
                <a:solidFill>
                  <a:srgbClr val="E2BC70"/>
                </a:solidFill>
                <a:latin typeface="Helvetica Neue"/>
                <a:ea typeface="Helvetica Neue"/>
                <a:cs typeface="Helvetica Neue"/>
              </a:rPr>
              <a:t>If enacted</a:t>
            </a:r>
          </a:p>
        </p:txBody>
      </p:sp>
      <p:sp>
        <p:nvSpPr>
          <p:cNvPr id="6" name="Hypothetical meaning">
            <a:extLst xmlns:a="http://schemas.openxmlformats.org/drawingml/2006/main">
              <a:ext uri="{FF2B5EF4-FFF2-40B4-BE49-F238E27FC236}">
                <a16:creationId xmlns:a16="http://schemas.microsoft.com/office/drawing/2014/main" id="{945AD900-7D3C-49E1-B36E-F1BEF7701BD8}"/>
              </a:ext>
            </a:extLst>
          </p:cNvPr>
          <p:cNvSpPr>
            <a:spLocks xmlns:a="http://schemas.openxmlformats.org/drawingml/2006/main" noGrp="1"/>
          </p:cNvSpPr>
          <p:nvPr/>
        </p:nvSpPr>
        <p:spPr>
          <a:xfrm xmlns:a="http://schemas.openxmlformats.org/drawingml/2006/main">
            <a:off x="6810375" y="2943225"/>
            <a:ext cx="471487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F6F0DF"/>
                </a:solidFill>
                <a:latin typeface="Helvetica Neue"/>
                <a:ea typeface="Helvetica Neue"/>
                <a:cs typeface="Helvetica Neue"/>
              </a:defRPr>
            </a:pPr>
            <a:r>
              <a:rPr sz="3225" b="0">
                <a:solidFill>
                  <a:srgbClr val="F6F0DF"/>
                </a:solidFill>
                <a:latin typeface="Helvetica Neue"/>
                <a:ea typeface="Helvetica Neue"/>
                <a:cs typeface="Helvetica Neue"/>
              </a:rPr>
              <a:t>Compare a clearly</a:t>
            </a:r>
          </a:p>
          <a:p xmlns:a="http://schemas.openxmlformats.org/drawingml/2006/main">
            <a:pPr>
              <a:defRPr sz="3225" b="0">
                <a:solidFill>
                  <a:srgbClr val="F6F0DF"/>
                </a:solidFill>
                <a:latin typeface="Helvetica Neue"/>
                <a:ea typeface="Helvetica Neue"/>
                <a:cs typeface="Helvetica Neue"/>
              </a:defRPr>
            </a:pPr>
            <a:r>
              <a:rPr sz="3225" b="0">
                <a:solidFill>
                  <a:srgbClr val="F6F0DF"/>
                </a:solidFill>
                <a:latin typeface="Helvetica Neue"/>
                <a:ea typeface="Helvetica Neue"/>
                <a:cs typeface="Helvetica Neue"/>
              </a:rPr>
              <a:t>labeled hypothetical</a:t>
            </a:r>
          </a:p>
        </p:txBody>
      </p:sp>
      <p:sp>
        <p:nvSpPr>
          <p:cNvPr id="7" name="Hypothetical detail">
            <a:extLst xmlns:a="http://schemas.openxmlformats.org/drawingml/2006/main">
              <a:ext uri="{FF2B5EF4-FFF2-40B4-BE49-F238E27FC236}">
                <a16:creationId xmlns:a16="http://schemas.microsoft.com/office/drawing/2014/main" id="{CA14956D-840E-49C8-A5D1-E93F0C82718B}"/>
              </a:ext>
            </a:extLst>
          </p:cNvPr>
          <p:cNvSpPr>
            <a:spLocks xmlns:a="http://schemas.openxmlformats.org/drawingml/2006/main" noGrp="1"/>
          </p:cNvSpPr>
          <p:nvPr/>
        </p:nvSpPr>
        <p:spPr>
          <a:xfrm xmlns:a="http://schemas.openxmlformats.org/drawingml/2006/main">
            <a:off x="6810375" y="4419600"/>
            <a:ext cx="4686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DCBCB"/>
                </a:solidFill>
                <a:latin typeface="Helvetica Neue"/>
                <a:ea typeface="Helvetica Neue"/>
                <a:cs typeface="Helvetica Neue"/>
              </a:defRPr>
            </a:pPr>
            <a:r>
              <a:rPr sz="2100" b="0">
                <a:solidFill>
                  <a:srgbClr val="BDCBCB"/>
                </a:solidFill>
                <a:latin typeface="Helvetica Neue"/>
                <a:ea typeface="Helvetica Neue"/>
                <a:cs typeface="Helvetica Neue"/>
              </a:rPr>
              <a:t>Stored law stays unchanged.</a:t>
            </a:r>
          </a:p>
        </p:txBody>
      </p:sp>
      <p:sp>
        <p:nvSpPr>
          <p:cNvPr id="8" name="Portfolio distinction">
            <a:extLst xmlns:a="http://schemas.openxmlformats.org/drawingml/2006/main">
              <a:ext uri="{FF2B5EF4-FFF2-40B4-BE49-F238E27FC236}">
                <a16:creationId xmlns:a16="http://schemas.microsoft.com/office/drawing/2014/main" id="{338EE2C4-836C-4189-AB68-82501D99C356}"/>
              </a:ext>
            </a:extLst>
          </p:cNvPr>
          <p:cNvSpPr>
            <a:spLocks xmlns:a="http://schemas.openxmlformats.org/drawingml/2006/main" noGrp="1"/>
          </p:cNvSpPr>
          <p:nvPr/>
        </p:nvSpPr>
        <p:spPr>
          <a:xfrm xmlns:a="http://schemas.openxmlformats.org/drawingml/2006/main">
            <a:off x="714375" y="60007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6F0DF"/>
                </a:solidFill>
                <a:latin typeface="Helvetica Neue"/>
                <a:ea typeface="Helvetica Neue"/>
                <a:cs typeface="Helvetica Neue"/>
              </a:defRPr>
            </a:pPr>
            <a:r>
              <a:rPr sz="2025" b="0">
                <a:solidFill>
                  <a:srgbClr val="F6F0DF"/>
                </a:solidFill>
                <a:latin typeface="Helvetica Neue"/>
                <a:ea typeface="Helvetica Neue"/>
                <a:cs typeface="Helvetica Neue"/>
              </a:rPr>
              <a:t>Definitely affected and uncertain properties remain separate.</a:t>
            </a:r>
          </a:p>
        </p:txBody>
      </p:sp>
    </p:spTree>
    <p:extLst>
      <p:ext uri="{BB962C8B-B14F-4D97-AF65-F5344CB8AC3E}">
        <p14:creationId xmlns:p14="http://schemas.microsoft.com/office/powerpoint/2010/main" val="550676138"/>
      </p:ext>
    </p:extLst>
  </p:cSld>
</p:sld>
</file>

<file path=ppt/slides/slide6.xml><?xml version="1.0" encoding="utf-8"?>
<p:sld xmlns:p="http://schemas.openxmlformats.org/presentationml/2006/main">
  <p:cSld>
    <p:bg>
      <p:bgPr>
        <a:solidFill xmlns:a="http://schemas.openxmlformats.org/drawingml/2006/main">
          <a:srgbClr val="F6F0DF"/>
        </a:solidFill>
      </p:bgPr>
    </p:bg>
    <p:spTree>
      <p:nvGrpSpPr>
        <p:cNvPr id="1" name=""/>
        <p:cNvGrpSpPr/>
        <p:nvPr/>
      </p:nvGrpSpPr>
      <p:grpSpPr>
        <a:xfrm xmlns:a="http://schemas.openxmlformats.org/drawingml/2006/main"/>
      </p:grpSpPr>
      <p:sp>
        <p:nvSpPr>
          <p:cNvPr id="10" name="Demo subject">
            <a:extLst xmlns:a="http://schemas.openxmlformats.org/drawingml/2006/main">
              <a:ext uri="{FF2B5EF4-FFF2-40B4-BE49-F238E27FC236}">
                <a16:creationId xmlns:a16="http://schemas.microsoft.com/office/drawing/2014/main" id="{97AD073A-15AB-46CC-8D11-8444C1FC735B}"/>
              </a:ext>
            </a:extLst>
          </p:cNvPr>
          <p:cNvSpPr>
            <a:spLocks xmlns:a="http://schemas.openxmlformats.org/drawingml/2006/main" noGrp="1"/>
          </p:cNvSpPr>
          <p:nvPr/>
        </p:nvSpPr>
        <p:spPr>
          <a:xfrm xmlns:a="http://schemas.openxmlformats.org/drawingml/2006/main">
            <a:off x="685800" y="581025"/>
            <a:ext cx="107251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0">
                <a:solidFill>
                  <a:srgbClr val="143343"/>
                </a:solidFill>
                <a:latin typeface="Helvetica Neue"/>
                <a:ea typeface="Helvetica Neue"/>
                <a:cs typeface="Helvetica Neue"/>
              </a:defRPr>
            </a:pPr>
            <a:r>
              <a:rPr sz="4125" b="0">
                <a:solidFill>
                  <a:srgbClr val="143343"/>
                </a:solidFill>
                <a:latin typeface="Helvetica Neue"/>
                <a:ea typeface="Helvetica Neue"/>
                <a:cs typeface="Helvetica Neue"/>
              </a:rPr>
              <a:t>One property to its source</a:t>
            </a:r>
          </a:p>
        </p:txBody>
      </p:sp>
      <p:sp>
        <p:nvSpPr>
          <p:cNvPr id="2" name="Demo time">
            <a:extLst xmlns:a="http://schemas.openxmlformats.org/drawingml/2006/main">
              <a:ext uri="{FF2B5EF4-FFF2-40B4-BE49-F238E27FC236}">
                <a16:creationId xmlns:a16="http://schemas.microsoft.com/office/drawing/2014/main" id="{4EE2B1BF-6C25-4B4D-A430-719F6BD7ECF9}"/>
              </a:ext>
            </a:extLst>
          </p:cNvPr>
          <p:cNvSpPr>
            <a:spLocks xmlns:a="http://schemas.openxmlformats.org/drawingml/2006/main" noGrp="1"/>
          </p:cNvSpPr>
          <p:nvPr/>
        </p:nvSpPr>
        <p:spPr>
          <a:xfrm xmlns:a="http://schemas.openxmlformats.org/drawingml/2006/main">
            <a:off x="714375" y="1552575"/>
            <a:ext cx="9334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806222"/>
                </a:solidFill>
                <a:latin typeface="Helvetica Neue"/>
                <a:ea typeface="Helvetica Neue"/>
                <a:cs typeface="Helvetica Neue"/>
              </a:defRPr>
            </a:pPr>
            <a:r>
              <a:rPr sz="2100" b="0">
                <a:solidFill>
                  <a:srgbClr val="806222"/>
                </a:solidFill>
                <a:latin typeface="Helvetica Neue"/>
                <a:ea typeface="Helvetica Neue"/>
                <a:cs typeface="Helvetica Neue"/>
              </a:rPr>
              <a:t>60-second live walkthrough</a:t>
            </a:r>
          </a:p>
        </p:txBody>
      </p:sp>
      <p:sp>
        <p:nvSpPr>
          <p:cNvPr id="3" name="Demo number 1">
            <a:extLst xmlns:a="http://schemas.openxmlformats.org/drawingml/2006/main">
              <a:ext uri="{FF2B5EF4-FFF2-40B4-BE49-F238E27FC236}">
                <a16:creationId xmlns:a16="http://schemas.microsoft.com/office/drawing/2014/main" id="{C93CF349-96BB-4918-A5A1-7C8E3E18365F}"/>
              </a:ext>
            </a:extLst>
          </p:cNvPr>
          <p:cNvSpPr>
            <a:spLocks xmlns:a="http://schemas.openxmlformats.org/drawingml/2006/main" noGrp="1"/>
          </p:cNvSpPr>
          <p:nvPr/>
        </p:nvSpPr>
        <p:spPr>
          <a:xfrm xmlns:a="http://schemas.openxmlformats.org/drawingml/2006/main">
            <a:off x="723900" y="2733675"/>
            <a:ext cx="552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806222"/>
                </a:solidFill>
                <a:latin typeface="Helvetica Neue"/>
                <a:ea typeface="Helvetica Neue"/>
                <a:cs typeface="Helvetica Neue"/>
              </a:defRPr>
            </a:pPr>
            <a:r>
              <a:rPr sz="2475" b="0">
                <a:solidFill>
                  <a:srgbClr val="806222"/>
                </a:solidFill>
                <a:latin typeface="Helvetica Neue"/>
                <a:ea typeface="Helvetica Neue"/>
                <a:cs typeface="Helvetica Neue"/>
              </a:rPr>
              <a:t>1</a:t>
            </a:r>
          </a:p>
        </p:txBody>
      </p:sp>
      <p:sp>
        <p:nvSpPr>
          <p:cNvPr id="4" name="Demo action 1">
            <a:extLst xmlns:a="http://schemas.openxmlformats.org/drawingml/2006/main">
              <a:ext uri="{FF2B5EF4-FFF2-40B4-BE49-F238E27FC236}">
                <a16:creationId xmlns:a16="http://schemas.microsoft.com/office/drawing/2014/main" id="{22457B0C-80AA-4BB7-AF9F-B7098BD79775}"/>
              </a:ext>
            </a:extLst>
          </p:cNvPr>
          <p:cNvSpPr>
            <a:spLocks xmlns:a="http://schemas.openxmlformats.org/drawingml/2006/main" noGrp="1"/>
          </p:cNvSpPr>
          <p:nvPr/>
        </p:nvSpPr>
        <p:spPr>
          <a:xfrm xmlns:a="http://schemas.openxmlformats.org/drawingml/2006/main">
            <a:off x="1438275" y="2733675"/>
            <a:ext cx="9525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43343"/>
                </a:solidFill>
                <a:latin typeface="Helvetica Neue"/>
                <a:ea typeface="Helvetica Neue"/>
                <a:cs typeface="Helvetica Neue"/>
              </a:defRPr>
            </a:pPr>
            <a:r>
              <a:rPr sz="2550" b="0">
                <a:solidFill>
                  <a:srgbClr val="143343"/>
                </a:solidFill>
                <a:latin typeface="Helvetica Neue"/>
                <a:ea typeface="Helvetica Neue"/>
                <a:cs typeface="Helvetica Neue"/>
              </a:rPr>
              <a:t>Choose a property and date</a:t>
            </a:r>
          </a:p>
        </p:txBody>
      </p:sp>
      <p:sp>
        <p:nvSpPr>
          <p:cNvPr id="5" name="Demo number 2">
            <a:extLst xmlns:a="http://schemas.openxmlformats.org/drawingml/2006/main">
              <a:ext uri="{FF2B5EF4-FFF2-40B4-BE49-F238E27FC236}">
                <a16:creationId xmlns:a16="http://schemas.microsoft.com/office/drawing/2014/main" id="{C706F83B-EBE2-4F8B-99F5-E7E8891F714E}"/>
              </a:ext>
            </a:extLst>
          </p:cNvPr>
          <p:cNvSpPr>
            <a:spLocks xmlns:a="http://schemas.openxmlformats.org/drawingml/2006/main" noGrp="1"/>
          </p:cNvSpPr>
          <p:nvPr/>
        </p:nvSpPr>
        <p:spPr>
          <a:xfrm xmlns:a="http://schemas.openxmlformats.org/drawingml/2006/main">
            <a:off x="723900" y="3524250"/>
            <a:ext cx="552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806222"/>
                </a:solidFill>
                <a:latin typeface="Helvetica Neue"/>
                <a:ea typeface="Helvetica Neue"/>
                <a:cs typeface="Helvetica Neue"/>
              </a:defRPr>
            </a:pPr>
            <a:r>
              <a:rPr sz="2475" b="0">
                <a:solidFill>
                  <a:srgbClr val="806222"/>
                </a:solidFill>
                <a:latin typeface="Helvetica Neue"/>
                <a:ea typeface="Helvetica Neue"/>
                <a:cs typeface="Helvetica Neue"/>
              </a:rPr>
              <a:t>2</a:t>
            </a:r>
          </a:p>
        </p:txBody>
      </p:sp>
      <p:sp>
        <p:nvSpPr>
          <p:cNvPr id="6" name="Demo action 2">
            <a:extLst xmlns:a="http://schemas.openxmlformats.org/drawingml/2006/main">
              <a:ext uri="{FF2B5EF4-FFF2-40B4-BE49-F238E27FC236}">
                <a16:creationId xmlns:a16="http://schemas.microsoft.com/office/drawing/2014/main" id="{BE929007-CE9A-4A84-862E-30E894AF81AE}"/>
              </a:ext>
            </a:extLst>
          </p:cNvPr>
          <p:cNvSpPr>
            <a:spLocks xmlns:a="http://schemas.openxmlformats.org/drawingml/2006/main" noGrp="1"/>
          </p:cNvSpPr>
          <p:nvPr/>
        </p:nvSpPr>
        <p:spPr>
          <a:xfrm xmlns:a="http://schemas.openxmlformats.org/drawingml/2006/main">
            <a:off x="1438275" y="3524250"/>
            <a:ext cx="9525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43343"/>
                </a:solidFill>
                <a:latin typeface="Helvetica Neue"/>
                <a:ea typeface="Helvetica Neue"/>
                <a:cs typeface="Helvetica Neue"/>
              </a:defRPr>
            </a:pPr>
            <a:r>
              <a:rPr sz="2550" b="0">
                <a:solidFill>
                  <a:srgbClr val="143343"/>
                </a:solidFill>
                <a:latin typeface="Helvetica Neue"/>
                <a:ea typeface="Helvetica Neue"/>
                <a:cs typeface="Helvetica Neue"/>
              </a:rPr>
              <a:t>Answer one useful question</a:t>
            </a:r>
          </a:p>
        </p:txBody>
      </p:sp>
      <p:sp>
        <p:nvSpPr>
          <p:cNvPr id="7" name="Demo number 3">
            <a:extLst xmlns:a="http://schemas.openxmlformats.org/drawingml/2006/main">
              <a:ext uri="{FF2B5EF4-FFF2-40B4-BE49-F238E27FC236}">
                <a16:creationId xmlns:a16="http://schemas.microsoft.com/office/drawing/2014/main" id="{A55E604B-1E63-4A22-8471-F29FEBA6CA0B}"/>
              </a:ext>
            </a:extLst>
          </p:cNvPr>
          <p:cNvSpPr>
            <a:spLocks xmlns:a="http://schemas.openxmlformats.org/drawingml/2006/main" noGrp="1"/>
          </p:cNvSpPr>
          <p:nvPr/>
        </p:nvSpPr>
        <p:spPr>
          <a:xfrm xmlns:a="http://schemas.openxmlformats.org/drawingml/2006/main">
            <a:off x="723900" y="4314825"/>
            <a:ext cx="552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806222"/>
                </a:solidFill>
                <a:latin typeface="Helvetica Neue"/>
                <a:ea typeface="Helvetica Neue"/>
                <a:cs typeface="Helvetica Neue"/>
              </a:defRPr>
            </a:pPr>
            <a:r>
              <a:rPr sz="2475" b="0">
                <a:solidFill>
                  <a:srgbClr val="806222"/>
                </a:solidFill>
                <a:latin typeface="Helvetica Neue"/>
                <a:ea typeface="Helvetica Neue"/>
                <a:cs typeface="Helvetica Neue"/>
              </a:rPr>
              <a:t>3</a:t>
            </a:r>
          </a:p>
        </p:txBody>
      </p:sp>
      <p:sp>
        <p:nvSpPr>
          <p:cNvPr id="8" name="Demo action 3">
            <a:extLst xmlns:a="http://schemas.openxmlformats.org/drawingml/2006/main">
              <a:ext uri="{FF2B5EF4-FFF2-40B4-BE49-F238E27FC236}">
                <a16:creationId xmlns:a16="http://schemas.microsoft.com/office/drawing/2014/main" id="{101C2DA9-D22F-4B01-81CA-3CA5D88BD2D1}"/>
              </a:ext>
            </a:extLst>
          </p:cNvPr>
          <p:cNvSpPr>
            <a:spLocks xmlns:a="http://schemas.openxmlformats.org/drawingml/2006/main" noGrp="1"/>
          </p:cNvSpPr>
          <p:nvPr/>
        </p:nvSpPr>
        <p:spPr>
          <a:xfrm xmlns:a="http://schemas.openxmlformats.org/drawingml/2006/main">
            <a:off x="1438275" y="4314825"/>
            <a:ext cx="9525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43343"/>
                </a:solidFill>
                <a:latin typeface="Helvetica Neue"/>
                <a:ea typeface="Helvetica Neue"/>
                <a:cs typeface="Helvetica Neue"/>
              </a:defRPr>
            </a:pPr>
            <a:r>
              <a:rPr sz="2550" b="0">
                <a:solidFill>
                  <a:srgbClr val="143343"/>
                </a:solidFill>
                <a:latin typeface="Helvetica Neue"/>
                <a:ea typeface="Helvetica Neue"/>
                <a:cs typeface="Helvetica Neue"/>
              </a:rPr>
              <a:t>Open the exact source</a:t>
            </a:r>
          </a:p>
        </p:txBody>
      </p:sp>
      <p:sp>
        <p:nvSpPr>
          <p:cNvPr id="9" name="Prototype limits">
            <a:extLst xmlns:a="http://schemas.openxmlformats.org/drawingml/2006/main">
              <a:ext uri="{FF2B5EF4-FFF2-40B4-BE49-F238E27FC236}">
                <a16:creationId xmlns:a16="http://schemas.microsoft.com/office/drawing/2014/main" id="{2F3DA88D-4EC9-4190-96D8-1B9DDC9A9825}"/>
              </a:ext>
            </a:extLst>
          </p:cNvPr>
          <p:cNvSpPr>
            <a:spLocks xmlns:a="http://schemas.openxmlformats.org/drawingml/2006/main" noGrp="1"/>
          </p:cNvSpPr>
          <p:nvPr/>
        </p:nvSpPr>
        <p:spPr>
          <a:xfrm xmlns:a="http://schemas.openxmlformats.org/drawingml/2006/main">
            <a:off x="714375" y="5762625"/>
            <a:ext cx="108013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36A"/>
                </a:solidFill>
                <a:latin typeface="Helvetica Neue"/>
                <a:ea typeface="Helvetica Neue"/>
                <a:cs typeface="Helvetica Neue"/>
              </a:defRPr>
            </a:pPr>
            <a:r>
              <a:rPr sz="1875" b="0">
                <a:solidFill>
                  <a:srgbClr val="53636A"/>
                </a:solidFill>
                <a:latin typeface="Helvetica Neue"/>
                <a:ea typeface="Helvetica Neue"/>
                <a:cs typeface="Helvetica Neue"/>
              </a:rPr>
              <a:t>Research prototype. Coverage and interpretation gaps remain.</a:t>
            </a:r>
          </a:p>
          <a:p xmlns:a="http://schemas.openxmlformats.org/drawingml/2006/main">
            <a:pPr>
              <a:defRPr sz="1875" b="0">
                <a:solidFill>
                  <a:srgbClr val="53636A"/>
                </a:solidFill>
                <a:latin typeface="Helvetica Neue"/>
                <a:ea typeface="Helvetica Neue"/>
                <a:cs typeface="Helvetica Neue"/>
              </a:defRPr>
            </a:pPr>
            <a:r>
              <a:rPr sz="1875" b="0">
                <a:solidFill>
                  <a:srgbClr val="53636A"/>
                </a:solidFill>
                <a:latin typeface="Helvetica Neue"/>
                <a:ea typeface="Helvetica Neue"/>
                <a:cs typeface="Helvetica Neue"/>
              </a:rPr>
              <a:t>Not legal advice.</a:t>
            </a:r>
          </a:p>
        </p:txBody>
      </p:sp>
    </p:spTree>
    <p:extLst>
      <p:ext uri="{BB962C8B-B14F-4D97-AF65-F5344CB8AC3E}">
        <p14:creationId xmlns:p14="http://schemas.microsoft.com/office/powerpoint/2010/main" val="18813712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2026-10-04T14:59:16.1670000Z</dcterms:created>
  <dcterms:modified xsi:type="dcterms:W3CDTF">2026-10-04T14:59:16.1670000Z</dcterms:modified>
</coreProperties>
</file>